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0de50c0a0c4176" /><Relationship Type="http://schemas.openxmlformats.org/officeDocument/2006/relationships/extended-properties" Target="/docProps/app.xml" Id="Rf4313cfa8e0246e8" /><Relationship Type="http://schemas.openxmlformats.org/officeDocument/2006/relationships/officeDocument" Target="/ppt/presentation.xml" Id="Ra1660ebd23954d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4d53e17962423d"/>
  </p:sldMasterIdLst>
  <p:notesMasterIdLst>
    <p:notesMasterId xmlns:r="http://schemas.openxmlformats.org/officeDocument/2006/relationships" r:id="R0078ee8d2a1243e5"/>
  </p:notesMasterIdLst>
  <p:sldIdLst>
    <p:sldId xmlns:r="http://schemas.openxmlformats.org/officeDocument/2006/relationships" id="256" r:id="R312efd5f9b57437d"/>
    <p:sldId xmlns:r="http://schemas.openxmlformats.org/officeDocument/2006/relationships" id="257" r:id="R799c0f80d821460b"/>
    <p:sldId xmlns:r="http://schemas.openxmlformats.org/officeDocument/2006/relationships" id="258" r:id="R9378acc9ac4b4637"/>
    <p:sldId xmlns:r="http://schemas.openxmlformats.org/officeDocument/2006/relationships" id="259" r:id="R53a449714ca54703"/>
    <p:sldId xmlns:r="http://schemas.openxmlformats.org/officeDocument/2006/relationships" id="260" r:id="R63e356eacbd248f0"/>
    <p:sldId xmlns:r="http://schemas.openxmlformats.org/officeDocument/2006/relationships" id="261" r:id="Rb2868230d1d84f89"/>
    <p:sldId xmlns:r="http://schemas.openxmlformats.org/officeDocument/2006/relationships" id="262" r:id="R046f9f77e75f4064"/>
    <p:sldId xmlns:r="http://schemas.openxmlformats.org/officeDocument/2006/relationships" id="263" r:id="R3990b07517cd4619"/>
    <p:sldId xmlns:r="http://schemas.openxmlformats.org/officeDocument/2006/relationships" id="264" r:id="Rcfe84804b72f4a0f"/>
    <p:sldId xmlns:r="http://schemas.openxmlformats.org/officeDocument/2006/relationships" id="265" r:id="R4705e9c0e7b44758"/>
    <p:sldId xmlns:r="http://schemas.openxmlformats.org/officeDocument/2006/relationships" id="266" r:id="R0344c68cf376496b"/>
    <p:sldId xmlns:r="http://schemas.openxmlformats.org/officeDocument/2006/relationships" id="267" r:id="R520e69737fd14831"/>
    <p:sldId xmlns:r="http://schemas.openxmlformats.org/officeDocument/2006/relationships" id="268" r:id="Rbbb8e3363a0c4577"/>
    <p:sldId xmlns:r="http://schemas.openxmlformats.org/officeDocument/2006/relationships" id="269" r:id="R993c1926dce342d0"/>
    <p:sldId xmlns:r="http://schemas.openxmlformats.org/officeDocument/2006/relationships" id="270" r:id="R3f61484da9ad42cc"/>
    <p:sldId xmlns:r="http://schemas.openxmlformats.org/officeDocument/2006/relationships" id="271" r:id="R2501993b951740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5fdf32ec1a476a" /><Relationship Type="http://schemas.openxmlformats.org/officeDocument/2006/relationships/slideMaster" Target="/ppt/slideMasters/slideMaster1.xml" Id="R5b4d53e17962423d" /><Relationship Type="http://schemas.openxmlformats.org/officeDocument/2006/relationships/notesMaster" Target="/ppt/notesMasters/notesMaster1.xml" Id="R0078ee8d2a1243e5" /><Relationship Type="http://schemas.openxmlformats.org/officeDocument/2006/relationships/presProps" Target="/ppt/presProps.xml" Id="Rc831192f9509438e" /><Relationship Type="http://schemas.openxmlformats.org/officeDocument/2006/relationships/tableStyles" Target="/ppt/tableStyles.xml" Id="R03db14252c954497" /><Relationship Type="http://schemas.openxmlformats.org/officeDocument/2006/relationships/slide" Target="/ppt/slides/slide1.xml" Id="R312efd5f9b57437d" /><Relationship Type="http://schemas.openxmlformats.org/officeDocument/2006/relationships/slide" Target="/ppt/slides/slide2.xml" Id="R799c0f80d821460b" /><Relationship Type="http://schemas.openxmlformats.org/officeDocument/2006/relationships/slide" Target="/ppt/slides/slide3.xml" Id="R9378acc9ac4b4637" /><Relationship Type="http://schemas.openxmlformats.org/officeDocument/2006/relationships/slide" Target="/ppt/slides/slide4.xml" Id="R53a449714ca54703" /><Relationship Type="http://schemas.openxmlformats.org/officeDocument/2006/relationships/slide" Target="/ppt/slides/slide5.xml" Id="R63e356eacbd248f0" /><Relationship Type="http://schemas.openxmlformats.org/officeDocument/2006/relationships/slide" Target="/ppt/slides/slide6.xml" Id="Rb2868230d1d84f89" /><Relationship Type="http://schemas.openxmlformats.org/officeDocument/2006/relationships/slide" Target="/ppt/slides/slide7.xml" Id="R046f9f77e75f4064" /><Relationship Type="http://schemas.openxmlformats.org/officeDocument/2006/relationships/slide" Target="/ppt/slides/slide8.xml" Id="R3990b07517cd4619" /><Relationship Type="http://schemas.openxmlformats.org/officeDocument/2006/relationships/slide" Target="/ppt/slides/slide9.xml" Id="Rcfe84804b72f4a0f" /><Relationship Type="http://schemas.openxmlformats.org/officeDocument/2006/relationships/slide" Target="/ppt/slides/slide10.xml" Id="R4705e9c0e7b44758" /><Relationship Type="http://schemas.openxmlformats.org/officeDocument/2006/relationships/slide" Target="/ppt/slides/slide11.xml" Id="R0344c68cf376496b" /><Relationship Type="http://schemas.openxmlformats.org/officeDocument/2006/relationships/slide" Target="/ppt/slides/slide12.xml" Id="R520e69737fd14831" /><Relationship Type="http://schemas.openxmlformats.org/officeDocument/2006/relationships/slide" Target="/ppt/slides/slide13.xml" Id="Rbbb8e3363a0c4577" /><Relationship Type="http://schemas.openxmlformats.org/officeDocument/2006/relationships/slide" Target="/ppt/slides/slide14.xml" Id="R993c1926dce342d0" /><Relationship Type="http://schemas.openxmlformats.org/officeDocument/2006/relationships/slide" Target="/ppt/slides/slide15.xml" Id="R3f61484da9ad42cc" /><Relationship Type="http://schemas.openxmlformats.org/officeDocument/2006/relationships/slide" Target="/ppt/slides/slide16.xml" Id="R2501993b951740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022c2fc24c48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859a714d21463a" /><Relationship Type="http://schemas.openxmlformats.org/officeDocument/2006/relationships/notesMaster" Target="/ppt/notesMasters/notesMaster1.xml" Id="R39e30ad8bb3546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d4c579a8ae41fe" /><Relationship Type="http://schemas.openxmlformats.org/officeDocument/2006/relationships/notesMaster" Target="/ppt/notesMasters/notesMaster1.xml" Id="R041662c4df864f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17ebba82eb411a" /><Relationship Type="http://schemas.openxmlformats.org/officeDocument/2006/relationships/notesMaster" Target="/ppt/notesMasters/notesMaster1.xml" Id="R4d43ae281feb4e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9df862b02743ae" /><Relationship Type="http://schemas.openxmlformats.org/officeDocument/2006/relationships/notesMaster" Target="/ppt/notesMasters/notesMaster1.xml" Id="R131d6bc6c37749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6a425bd4884d2f" /><Relationship Type="http://schemas.openxmlformats.org/officeDocument/2006/relationships/notesMaster" Target="/ppt/notesMasters/notesMaster1.xml" Id="R9ff33d83a2c44b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bd3aa632c44eb3" /><Relationship Type="http://schemas.openxmlformats.org/officeDocument/2006/relationships/notesMaster" Target="/ppt/notesMasters/notesMaster1.xml" Id="Re5a70e9307524f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70502a355e4a3f" /><Relationship Type="http://schemas.openxmlformats.org/officeDocument/2006/relationships/notesMaster" Target="/ppt/notesMasters/notesMaster1.xml" Id="R3e1d2666e1964c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5166bbe6e84ef3" /><Relationship Type="http://schemas.openxmlformats.org/officeDocument/2006/relationships/notesMaster" Target="/ppt/notesMasters/notesMaster1.xml" Id="R4257cb789d3a40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1761051fe14a6c" /><Relationship Type="http://schemas.openxmlformats.org/officeDocument/2006/relationships/notesMaster" Target="/ppt/notesMasters/notesMaster1.xml" Id="R531509b93a354e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5e596e79184d24" /><Relationship Type="http://schemas.openxmlformats.org/officeDocument/2006/relationships/notesMaster" Target="/ppt/notesMasters/notesMaster1.xml" Id="R27a67aa1e10747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5e5733f97e4eac" /><Relationship Type="http://schemas.openxmlformats.org/officeDocument/2006/relationships/notesMaster" Target="/ppt/notesMasters/notesMaster1.xml" Id="R6d355d34c5bd42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f63875298d4cf3" /><Relationship Type="http://schemas.openxmlformats.org/officeDocument/2006/relationships/notesMaster" Target="/ppt/notesMasters/notesMaster1.xml" Id="R938d94af8afb4f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ed361c895245ef" /><Relationship Type="http://schemas.openxmlformats.org/officeDocument/2006/relationships/notesMaster" Target="/ppt/notesMasters/notesMaster1.xml" Id="Rc491ed0b5c0245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58c77e8db14e6c" /><Relationship Type="http://schemas.openxmlformats.org/officeDocument/2006/relationships/notesMaster" Target="/ppt/notesMasters/notesMaster1.xml" Id="R32abec97b6ee41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1314f9f8dd4d05" /><Relationship Type="http://schemas.openxmlformats.org/officeDocument/2006/relationships/notesMaster" Target="/ppt/notesMasters/notesMaster1.xml" Id="R3d752ff0b10d4d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a05014a20b4148" /><Relationship Type="http://schemas.openxmlformats.org/officeDocument/2006/relationships/notesMaster" Target="/ppt/notesMasters/notesMaster1.xml" Id="Re630ee5606b246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/Users/sreekaraditya/Downloads/Project_Summary_ABR120.docx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slide structure and the current presentation sequence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three-case intervention logic: poor mechanical/fine cover; fine mechanical/poor cover; both poor.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/Users/sreekaraditya/Downloads/Project_Summary_ABR120.docx</a:t>
            </a:r>
          </a:p>
          <a:p xmlns:a="http://schemas.openxmlformats.org/drawingml/2006/main">
            <a:r>
              <a:t>- /Users/sreekaraditya/Downloads/StrucIQ_Team_Briefing.docx, Sections 2 and 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https://doi.org/10.1016/j.engstruct.2025.119700</a:t>
            </a:r>
          </a:p>
          <a:p xmlns:a="http://schemas.openxmlformats.org/drawingml/2006/main">
            <a:r>
              <a:t>- https://doi.org/10.1111/mice.12943</a:t>
            </a:r>
          </a:p>
          <a:p xmlns:a="http://schemas.openxmlformats.org/drawingml/2006/main">
            <a:r>
              <a:t>- https://doi.org/10.1016/j.compstruc.2022.106790</a:t>
            </a:r>
          </a:p>
          <a:p xmlns:a="http://schemas.openxmlformats.org/drawingml/2006/main">
            <a:r>
              <a:t>- https://doi.org/10.1016/j.ymssp.2023.110376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https://doi.org/10.1016/j.compstruc.2022.106858</a:t>
            </a:r>
          </a:p>
          <a:p xmlns:a="http://schemas.openxmlformats.org/drawingml/2006/main">
            <a:r>
              <a:t>- https://doi.org/10.1016/j.ymssp.2021.108465</a:t>
            </a:r>
          </a:p>
          <a:p xmlns:a="http://schemas.openxmlformats.org/drawingml/2006/main">
            <a:r>
              <a:t>- https://doi.org/10.1016/j.ress.2023.109496</a:t>
            </a:r>
          </a:p>
          <a:p xmlns:a="http://schemas.openxmlformats.org/drawingml/2006/main">
            <a:r>
              <a:t>- https://doi.org/10.3390/ma15175807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novelty as integration with experimentally earned interfaces—not a generic claim that SHM, twins, or optimisation are new.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Eight-paper review on slides 4–5</a:t>
            </a:r>
          </a:p>
          <a:p xmlns:a="http://schemas.openxmlformats.org/drawingml/2006/main">
            <a:r>
              <a:t>- /Users/sreekaraditya/Downloads/StrucIQ_Team_Briefing.docx, Sections 2, 5 and 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each objective as an input-output commitment; avoid calling unmeasured coefficients results.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/Users/sreekaraditya/Downloads/Project_Summary_ABR120.docx</a:t>
            </a:r>
          </a:p>
          <a:p xmlns:a="http://schemas.openxmlformats.org/drawingml/2006/main">
            <a:r>
              <a:t>- /Users/sreekaraditya/Downloads/StrucIQ_Team_Briefing.docx, Sections 5, 7 and 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sensing, identification, environmental correction, inference, two-tier transport, classification, decision.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/Users/sreekaraditya/Downloads/arch_light.svg (user-provided architecture asset)</a:t>
            </a:r>
          </a:p>
          <a:p xmlns:a="http://schemas.openxmlformats.org/drawingml/2006/main">
            <a:r>
              <a:t>- /Users/sreekaraditya/Downloads/StrucIQ_Team_Briefing.docx, Section 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that the full transport model is never used when crack geometry has not been measured.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/Users/sreekaraditya/Downloads/StrucIQ_Team_Briefing.docx, Section 6</a:t>
            </a:r>
          </a:p>
          <a:p xmlns:a="http://schemas.openxmlformats.org/drawingml/2006/main">
            <a:r>
              <a:t>- /Users/sreekaraditya/Downloads/StrucIQ_Session_Summary.md, Section 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quantum speedup. The contribution is the decision formulation and its exact classical benchmark.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/Users/sreekaraditya/Downloads/StrucIQ_Team_Briefing.docx, Sections 9 and 12</a:t>
            </a:r>
          </a:p>
          <a:p xmlns:a="http://schemas.openxmlformats.org/drawingml/2006/main">
            <a:r>
              <a:t>- /Users/sreekaraditya/Desktop/Demo-Sim/results/milp_solver_summary.csv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Methodology is included to demonstrate project readiness; no physical calibration result is claimed yet.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/Users/sreekaraditya/Downloads/StrucIQ_Team_Briefing.docx, Sections 7–8</a:t>
            </a:r>
          </a:p>
          <a:p xmlns:a="http://schemas.openxmlformats.org/drawingml/2006/main">
            <a:r>
              <a:t>- ASTM C1585/C1585M, Standard Test Method for Measurement of Rate of Absorption of Water by Hydraulic-Cement Concretes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numbers on this slide are computational evidence, not physical validation.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/Users/sreekaraditya/Desktop/Demo-Sim/results/REPORT.md</a:t>
            </a:r>
          </a:p>
          <a:p xmlns:a="http://schemas.openxmlformats.org/drawingml/2006/main">
            <a:r>
              <a:t>- /Users/sreekaraditya/Desktop/Demo-Sim/results/prior_comparison_summary.csv</a:t>
            </a:r>
          </a:p>
          <a:p xmlns:a="http://schemas.openxmlformats.org/drawingml/2006/main">
            <a:r>
              <a:t>- /Users/sreekaraditya/Desktop/Demo-Sim/results/prior_plan_solver_50_seed_summary.csv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simulation has been run over 50 independent seeds for the prior/oracle diagnosis; separately, the general reliability protocol uses 20 seeds per configuration.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/Users/sreekaraditya/Desktop/Demo-Sim/results/prior_plan_jaccard_50_seeds.csv</a:t>
            </a:r>
          </a:p>
          <a:p xmlns:a="http://schemas.openxmlformats.org/drawingml/2006/main">
            <a:r>
              <a:t>- /Users/sreekaraditya/Desktop/Demo-Sim/results/solver_reliability_seeds.csv</a:t>
            </a:r>
          </a:p>
          <a:p xmlns:a="http://schemas.openxmlformats.org/drawingml/2006/main">
            <a:r>
              <a:t>- /Users/sreekaraditya/Desktop/Demo-Sim/results/milp_solver_summary.csv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separates current computational readiness from the physical evidence still to be earned.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/Users/sreekaraditya/Downloads/StrucIQ_Team_Briefing.docx, Sections 8, 13 and 14</a:t>
            </a:r>
          </a:p>
          <a:p xmlns:a="http://schemas.openxmlformats.org/drawingml/2006/main">
            <a:r>
              <a:t>- User-provided milestones: Review 2 by end-October 2026; submission April 2027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April 2027 as the fixed endpoint; the experimental campaign is the critical path.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submission and Review 2 dates</a:t>
            </a:r>
          </a:p>
          <a:p xmlns:a="http://schemas.openxmlformats.org/drawingml/2006/main">
            <a:r>
              <a:t>- /Users/sreekaraditya/Downloads/StrucIQ_Team_Briefing.docx, Section 13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Crossref metadata retrieved by DOI on 26 August 2026</a:t>
            </a:r>
          </a:p>
          <a:p xmlns:a="http://schemas.openxmlformats.org/drawingml/2006/main">
            <a:r>
              <a:t>- DOI links printed on this slide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9a20d25b647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497f72a92b4c20" /><Relationship Type="http://schemas.openxmlformats.org/officeDocument/2006/relationships/slideLayout" Target="/ppt/slideLayouts/slideLayout1.xml" Id="R676b8b81842c41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6b8b81842c41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6e051dfa34a7b" /><Relationship Type="http://schemas.openxmlformats.org/officeDocument/2006/relationships/image" Target="/ppt/media/image.png" Id="R55e166d704cc469d" /><Relationship Type="http://schemas.openxmlformats.org/officeDocument/2006/relationships/notesSlide" Target="/ppt/notesSlides/notesSlide1.xml" Id="Rc3cd026815a643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250ef24cb4e5e" /><Relationship Type="http://schemas.openxmlformats.org/officeDocument/2006/relationships/notesSlide" Target="/ppt/notesSlides/notesSlide2.xml" Id="R42d4c2a31ad14a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75172287d4537" /><Relationship Type="http://schemas.openxmlformats.org/officeDocument/2006/relationships/notesSlide" Target="/ppt/notesSlides/notesSlide3.xml" Id="R5eac1c344eba49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67f106ace4bd4" /><Relationship Type="http://schemas.openxmlformats.org/officeDocument/2006/relationships/notesSlide" Target="/ppt/notesSlides/notesSlide4.xml" Id="R7684f27e457848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65248883748a6" /><Relationship Type="http://schemas.openxmlformats.org/officeDocument/2006/relationships/notesSlide" Target="/ppt/notesSlides/notesSlide5.xml" Id="R27773a1d031545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e9bb924c84c8a" /><Relationship Type="http://schemas.openxmlformats.org/officeDocument/2006/relationships/notesSlide" Target="/ppt/notesSlides/notesSlide6.xml" Id="R5342b54a68bf4d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c2c6de0e74535" /><Relationship Type="http://schemas.openxmlformats.org/officeDocument/2006/relationships/notesSlide" Target="/ppt/notesSlides/notesSlide7.xml" Id="R7ea19507126a4c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3106bef4c4779" /><Relationship Type="http://schemas.openxmlformats.org/officeDocument/2006/relationships/image" Target="/ppt/media/image2.png" Id="Rd54633cc15154044" /><Relationship Type="http://schemas.openxmlformats.org/officeDocument/2006/relationships/notesSlide" Target="/ppt/notesSlides/notesSlide8.xml" Id="Rc762ec7e2d9b49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ccf207e884d66" /><Relationship Type="http://schemas.openxmlformats.org/officeDocument/2006/relationships/notesSlide" Target="/ppt/notesSlides/notesSlide9.xml" Id="Rcd655b3e2d3442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b5a54f77a445a" /><Relationship Type="http://schemas.openxmlformats.org/officeDocument/2006/relationships/notesSlide" Target="/ppt/notesSlides/notesSlide10.xml" Id="R49f49b12be9340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584d13e804d7e" /><Relationship Type="http://schemas.openxmlformats.org/officeDocument/2006/relationships/notesSlide" Target="/ppt/notesSlides/notesSlide11.xml" Id="Rf36cf314b5f041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056bd05004a13" /><Relationship Type="http://schemas.openxmlformats.org/officeDocument/2006/relationships/notesSlide" Target="/ppt/notesSlides/notesSlide12.xml" Id="Rd7d8057fb4154f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9ae589d0f4af7" /><Relationship Type="http://schemas.openxmlformats.org/officeDocument/2006/relationships/image" Target="/ppt/media/image3.png" Id="R55479096be8148c8" /><Relationship Type="http://schemas.openxmlformats.org/officeDocument/2006/relationships/image" Target="/ppt/media/image4.png" Id="R89d0cacff6014b82" /><Relationship Type="http://schemas.openxmlformats.org/officeDocument/2006/relationships/notesSlide" Target="/ppt/notesSlides/notesSlide13.xml" Id="R32eb6331235d4a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eb933d94a4285" /><Relationship Type="http://schemas.openxmlformats.org/officeDocument/2006/relationships/notesSlide" Target="/ppt/notesSlides/notesSlide14.xml" Id="R53eb803f887b41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1b460cf8540af" /><Relationship Type="http://schemas.openxmlformats.org/officeDocument/2006/relationships/notesSlide" Target="/ppt/notesSlides/notesSlide15.xml" Id="R4f89a74dc9d64a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31380d3d6494a" /><Relationship Type="http://schemas.openxmlformats.org/officeDocument/2006/relationships/notesSlide" Target="/ppt/notesSlides/notesSlide16.xml" Id="R86790b06ed484b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166d704cc469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22574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8CD58-CB8B-4E29-A829-1E300A14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4C0C9-AAD0-43B5-9533-666DECD1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Department of Civil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F1B13-79EC-43E1-BD09-87881D6A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0134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 Vibration-Driven Structural Digital Twin for</a:t>
            </a:r>
          </a:p>
          <a:p xmlns:a="http://schemas.openxmlformats.org/drawingml/2006/main">
            <a:pPr algn="ctr">
              <a:defRPr sz="27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Uncertainty-Aware Retrofit Decision Making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3C02F-F25D-4697-BFE7-5148F009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719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Batch: ABR120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8327A-8578-4360-B52E-EE29A165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Team Members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18257-56B5-4035-987C-6D893FE0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339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solidFill>
              <a:srgbClr val="7A7A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25CC3-F23E-41A5-BADB-9F58C985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101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P. Sahasra Reddy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B1352-676A-41EC-8BE7-70446A38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101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160123732015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DA22D-26A8-4ACB-8DB3-28AFC824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C8C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84668-75AD-409C-BDEB-33244567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10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M. Bhagirath Reddy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E4D0F-001C-47AF-9CC6-C34501F4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102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160123732046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1356A-A6AF-4CEE-B35B-ACF383C4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340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C8C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8212E-753D-48FA-8AB5-EC51F58E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810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P. Sreekar Aditya Reddy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D595D-EBDB-4DC5-8F5A-B9FE86EF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8102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160123732048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C36ED-16BE-4BFE-9020-B2E261F5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341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solidFill>
              <a:srgbClr val="7A7A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6B245-450A-435B-8B9A-BCAFDB34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2865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Project Guide: Dr. A. Balaji Rao, Associate Professor</a:t>
            </a:r>
          </a:p>
        </p:txBody>
      </p:sp>
    </p:spTree>
    <p:extLst>
      <p:ext uri="{BB962C8B-B14F-4D97-AF65-F5344CB8AC3E}">
        <p14:creationId xmlns:p14="http://schemas.microsoft.com/office/powerpoint/2010/main" val="17849501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71A218-FAD0-4F64-84EA-20C91E3B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DEPARTMENT OF CIVIL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476F0-C117-46F3-9BCB-59A7FE8B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D50BD-6899-4C1E-93BB-A96CF03B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ADA76-02EF-4EA6-A582-91F28FAE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D0D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6C5CA-E7D3-4EC0-8AD3-01ED6D21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D5C46-0985-4B61-BE0C-B36D4643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Introduction — The Two-Axis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64085-DA8D-45E3-9509-51E2FF3D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621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E0E0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8B76D-8409-413B-BCE9-CAA70F26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9700D-3CD0-4E70-AEB9-E8547B4D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Literature Review — SHM and Digital Twins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C7B4E-6833-498C-929F-B8DFE35D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717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4923C-A8FE-48FD-AFFF-EDAF4D37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9EB47-AD8B-416E-A3FC-AD1DA86F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Literature Review — Decision and Transport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AA532-A33E-472E-8F79-DE07FB31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813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602DC-30CA-4019-A73E-43BF5CAD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EA35E-84B4-407C-8210-01731A40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433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Research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18E58-A085-4196-B590-592F2A58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909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753E7-338A-4763-A5EF-2191B2D5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D195B-2F8E-40F4-9BDD-302C85FF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Aim &amp; Objectives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CDB56-574D-482B-A33D-DB4C731F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B19E3-BAA8-4C11-896E-04C7E10B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D8038-E40D-48D7-9A5E-5304AF25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625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Architecture — The Chain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8A16A-332F-497D-86E8-05BA8F78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101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64A2BD-2DC4-4AD6-A11F-1A3C499E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115978-B137-4333-A313-8652E7C0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721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Two-Tier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D503BF-17ED-4E79-9AE2-A929017A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197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09AFBD-4AF4-472B-9985-7F0D53B1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D98C83-DD50-49DE-8078-A96808CC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145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Decision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B80C1-FAF0-4D96-9E00-2D7FB984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621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6A45CC-130A-4460-ABA2-92C99765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475723-137B-4635-9F21-0AAE7C02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241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Experimental Campaign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953991-2484-41D8-9B09-75A1A85F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717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564205-3553-4DBB-AC85-FC802763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337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6BDF7A-9A9A-47C6-AFDB-F3F40DAB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337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Summary of What Was Learnt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63DE8C-2B9E-4281-B066-CEF105A1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813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B645B1-D3B9-4B9A-9F9E-B875ED60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3A95CC-D2CB-48BF-AE58-27CF90F0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433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Work Done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DD0460-97AF-4891-9115-B73C6172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909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E0E0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35CEEA-C208-4FD9-B6F8-4751B2EC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97E8FE-C9B6-4AC1-8081-50DD39FE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529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Work to Be Done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F2117E-2E71-472B-89C2-E4C46469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005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F0A925-67BA-44EA-917A-4EA95A19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8F8310-3E5D-457E-9A4E-12D89C0E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625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Roadmap &amp; Timeline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C3709B-8868-438F-8EFD-12D980AB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101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E0E0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E80218-2FF4-47E1-92CA-E5A34D45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9CC0EC-CF51-49EE-8058-6CA946DE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721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F96705-04C1-49F4-93CB-61798C6D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8197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E0E0E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B55287-2573-4256-AD05-D1F4D19C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0618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C67BD1-51EB-4D52-A563-B01B8447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STRUCIQ ·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DB1B1-A243-43D3-A0FB-10AD2779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Introduction · one structure, two deterioration axes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957E8-F40E-42B0-A286-5CBA139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82B75-630D-43D2-88B8-2E79C1FA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13D55-B624-4ED7-9EF4-F65D428F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2038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solidFill>
              <a:srgbClr val="FFF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E49A0-1DEA-45AF-AE58-5C0CC13A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THE ENGINEERING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D59E1-4857-49D6-AAD5-6291E038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9BB1B-AAF5-45CF-9A4C-C7444CD1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B27E8-38A9-429C-AD39-01962C88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3C127-D3B0-4486-936C-A7C7F1A0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CADFC-A8C9-4408-A10C-345DFC76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Mechanical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85F2A-9712-49EE-A421-2CAF3CB0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3848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Stiffness and capacity 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88D59-43A1-43B6-8C41-EAA58FBF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Measured through vibration response, modal parameters and member-level stiffness ratios with uncertainty.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AFA0C-AE74-4F5A-9E4A-3C2A401F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981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251BB-83A8-4D96-94AB-E2A97E7A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Capacity intervention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10B09-1E36-4351-A42C-9A3F95C3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B0"/>
          </a:solidFill>
          <a:ln xmlns:a="http://schemas.openxmlformats.org/drawingml/2006/main" w="0">
            <a:solidFill>
              <a:srgbClr val="6B4BB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5DFA5-B586-4FE0-B9A9-EFFA9AAA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09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ECF0E-3421-4E17-A4DD-E92AF3DF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95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Cover condition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B4969-7ADF-47A6-BC0C-4274D936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19400"/>
            <a:ext cx="403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rPr>
              <a:t>Water permeability / sorptivity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FC7FD-CDEF-4304-9AF9-A55B5F30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5755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Measured through crack geometry and ASTM C1585 water absorption on laboratory specimens.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91EFB-480E-4A0C-9D33-58F36FB8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2076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F1E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456E4C-8D05-4F5F-B9A5-E80BF4C9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71975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rPr>
              <a:t>Durability intervention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BBDF04-105E-4DA7-B0BF-556E4C46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527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CD0A0-DD9E-42C5-B277-D0987A2C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67050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F49A29-0FC3-4E73-BB07-FBE71CEA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95900"/>
            <a:ext cx="8572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solidFill>
              <a:srgbClr val="FFF4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5C8F52-6145-4588-A1E9-E48D5FE8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15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13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 stiffness-only diagnosis can choose the wrong repair. The twin must distinguish strengthening from cover repair—and sequence both when required.</a:t>
            </a:r>
          </a:p>
        </p:txBody>
      </p:sp>
    </p:spTree>
    <p:extLst>
      <p:ext uri="{BB962C8B-B14F-4D97-AF65-F5344CB8AC3E}">
        <p14:creationId xmlns:p14="http://schemas.microsoft.com/office/powerpoint/2010/main" val="20317037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B3CBCC-0F60-4615-A726-CC164D3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STRUCIQ ·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045E6-66C5-41A6-9416-6D54B217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Literature review · SHM and digital twins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C482A-25CC-47B0-A515-8435CF47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32DDE-6902-49DB-9C15-32D29FFE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8EE7D-47D2-4511-B354-03C5287A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82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The first link is not merely damage detection—it is damage detection that remains usable under environment, noise and model cost.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68960-F3D8-4D90-B7A1-76476401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6875"/>
            <a:ext cx="2524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E63D0-61F6-4450-8A75-29EC591B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43075"/>
            <a:ext cx="2371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Title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2096C-0271-4DD8-A269-C2019749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666875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B95DA-A0EE-4C23-895E-94D12491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7430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Author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C2397-BDB1-45AF-A578-4C3F355C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666875"/>
            <a:ext cx="685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3CBB1-8594-4BC5-B07C-E19D1FE9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7430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Year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8A65C-79DE-4CE7-94CB-ECB608BA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666875"/>
            <a:ext cx="1571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BD0AA-A51F-42C1-A50D-AEDC3E7B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74307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Journal · publisher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A548A-C448-4245-B480-4CA10EFA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66875"/>
            <a:ext cx="2714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B1F693-D3D5-4892-9D4F-19D3C419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43075"/>
            <a:ext cx="2562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Methodology · inputs → 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CCC2F-028C-4ECE-80A5-C0D2B1C4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66875"/>
            <a:ext cx="2790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B1DA8-56D7-4B7B-82B4-E040A0B9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743075"/>
            <a:ext cx="2638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Key finding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3D722-7383-4428-8B23-B5D7CBCC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05025"/>
            <a:ext cx="2524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E4714-599C-4CA4-B18A-7766DADE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81225"/>
            <a:ext cx="23717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Damage detection under environmental and operational variability using cointegration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7C19FC-F8CD-4C5C-833C-726141A7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105025"/>
            <a:ext cx="1066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61D03-1177-4088-BAED-E95F6618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81225"/>
            <a:ext cx="914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Pirrò et 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91982-12E0-4BD9-97FF-5C7E036F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105025"/>
            <a:ext cx="685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74BA1B-53D6-41D1-A33A-F4DC09C7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181225"/>
            <a:ext cx="53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76FBA-89C1-4A70-9133-154774C8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05025"/>
            <a:ext cx="1571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152CCB-AE6B-4C46-B092-D9077313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81225"/>
            <a:ext cx="1419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Engineering Structures</a:t>
            </a:r>
          </a:p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Elsevier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32ED6-19E5-4806-AAA0-9843D2E7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05025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C050F3-F9C1-4BD0-8BBB-F09210CB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2562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31,326 vibration datasets + temperature/water level + FE damage → EOV-normalised novelty indicators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89C024-348E-4517-8EC0-6BD3695A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05025"/>
            <a:ext cx="27908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4553B3-1D7C-4889-8561-4984E8E0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181225"/>
            <a:ext cx="26384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Cointegration separated environmental variation using about 6 months of training; PCA required about 12 months.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7120C6-78CF-4551-84A3-BD58A88B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05150"/>
            <a:ext cx="2524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7D7DC4-444D-4B35-B7D6-05B4E365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23717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Autoencoders for unsupervised real-time bridge health assessment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F1390F-FF07-48A6-A2CC-69BCB2E3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05150"/>
            <a:ext cx="1066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FD6F9A-9B0D-4B28-ABC0-50D2F5DA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81350"/>
            <a:ext cx="914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Giglioni et 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B98D32-B802-4CA3-8175-4BF2148E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05150"/>
            <a:ext cx="685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CB9294-D248-46D3-A2F8-65E9440B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53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DDE256-7739-47FE-B1B2-E6972C78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05150"/>
            <a:ext cx="1571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5EA90C-950A-4661-90A9-69E70CAF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81350"/>
            <a:ext cx="1419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3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Computer-Aided Civil and Infrastructure Engineering</a:t>
            </a:r>
          </a:p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Wiley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9566D3-5BD0-4373-948A-2D951FC0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8730C3-462D-46B1-A713-04A917D7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81350"/>
            <a:ext cx="2562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Healthy raw acceleration sequences → autoencoder reconstruction-loss damage indicators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1C7765-8C64-4BE9-AE8F-B13B4FF1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05150"/>
            <a:ext cx="27908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49A492-3C7A-4809-ADFD-901E956B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81350"/>
            <a:ext cx="26384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Reported up to 96% accuracy and AUC 0.99; 10 s sequences processed in under 1 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B4BB5D-092B-4C9B-B418-2DE6C255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05275"/>
            <a:ext cx="2524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F031E3-C240-49A1-9778-3F8780A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81475"/>
            <a:ext cx="23717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SHM under varying environmental conditions: model order reduction and deep learning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C99D45-3571-45F8-B7A7-B5D818CE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05275"/>
            <a:ext cx="1066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F5E8AC-CE30-466B-BEA2-E3B8E028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181475"/>
            <a:ext cx="914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Torzoni et al.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C224FA-F98F-46D3-9ABA-B300579A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105275"/>
            <a:ext cx="685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39B8F8-AC05-4180-B4D1-2D3305E7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81475"/>
            <a:ext cx="53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F08CFF-43E2-4EAE-BF26-1049CAF4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105275"/>
            <a:ext cx="1571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AC33C8-AF53-4091-A038-F9B2C1B9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81475"/>
            <a:ext cx="1419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Computers &amp; Structures</a:t>
            </a:r>
          </a:p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Elsevier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57AA2D-1044-47CE-9827-81F6E30C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05275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469CC7-5464-4EF7-9A58-D0362844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81475"/>
            <a:ext cx="2562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Simulated vibration + temperature/load + stiffness loss → damage class/location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FE7B26-4762-4A07-B968-D30709A2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105275"/>
            <a:ext cx="27908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73E855-3290-48C0-9825-46D94314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181475"/>
            <a:ext cx="26384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Physics-generated training data separated temperature effects from damage and located small stiffness reductions.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35BB4E-7551-4C35-85DB-4158A456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05400"/>
            <a:ext cx="2524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F0BC8C-FA95-44CB-92DD-C42163F5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23717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Multi-fidelity surrogate model for SHM using model reduction and neural networks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33DBAA5-86D4-49BB-B6A3-BA7579AD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105400"/>
            <a:ext cx="1066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EE27F6-CCA2-43CB-A9E0-4F31D21A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181600"/>
            <a:ext cx="914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Torzoni et al.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D3D778-A907-4BA0-98E8-6B2FC771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105400"/>
            <a:ext cx="685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68FCDE-D581-4ACB-B953-6FD10109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181600"/>
            <a:ext cx="53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632BA6-E339-4677-B22A-5C13BE64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105400"/>
            <a:ext cx="1571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C0D23C-B10A-45C0-888A-AAD00F4C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181600"/>
            <a:ext cx="1419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Mechanical Systems and Signal Processing</a:t>
            </a:r>
          </a:p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Elsevier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818823-FFD5-45B8-842D-1B402C7E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05400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ECB420-DEAD-4771-BA0A-01C02CA0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81600"/>
            <a:ext cx="2562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High-fidelity FE + low-fidelity ROM + operational noise → sensor histories and Bayesian state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88169A-CA36-4692-B3D9-10199BB3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105400"/>
            <a:ext cx="27908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97C64A9-297B-4F3B-9FCC-0D91F4B6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181600"/>
            <a:ext cx="26384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Multi-fidelity learning improved surrogate accuracy while reducing the cost of Bayesian updating.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F4C87C-9964-4916-AD75-2C88F1ED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049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Eight recent journal articles selected for direct relevance to the project chain; chloride transport is intentionally excluded.</a:t>
            </a:r>
          </a:p>
        </p:txBody>
      </p:sp>
    </p:spTree>
    <p:extLst>
      <p:ext uri="{BB962C8B-B14F-4D97-AF65-F5344CB8AC3E}">
        <p14:creationId xmlns:p14="http://schemas.microsoft.com/office/powerpoint/2010/main" val="572531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6D5EFB8-7A5A-4841-92D6-4E02F6BB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STRUCIQ ·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30F64-CA4C-41A6-B3D2-924BCA80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Literature review · decision and transport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5D739-AD58-471F-B6E2-A0333681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470E0-A477-4CBD-9904-A00DAD8E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C6217-CD57-4531-9F77-B75C95E8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82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The second link asks whether state estimates change maintenance decisions—and anchors the durability axis in water transport, not chloride ingress.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D3DEA-4A42-469F-9C65-7A3791CD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6875"/>
            <a:ext cx="2524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9749B-D2FD-4E6E-BF77-9AD9B98D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43075"/>
            <a:ext cx="2371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Title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7F6B1-4FDB-4FEB-8790-7B764351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666875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1DA30-3322-42CC-BE8A-9911B0A4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7430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Author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A53A8-AB5E-49FA-A8D2-6F224667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666875"/>
            <a:ext cx="685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CFC4F-C696-4957-9EC9-3614A206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7430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Year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C8E8B-BA53-4578-9AC2-A97D18E9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666875"/>
            <a:ext cx="1571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F440C-CDEF-44FC-AE88-788B2B9B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74307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Journal · publisher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FA261-6FA2-4EB4-B4BA-6AD46BC0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66875"/>
            <a:ext cx="2714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F9317-0CDD-42A1-A1BF-186AE825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43075"/>
            <a:ext cx="2562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Methodology · inputs → 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E17FD-4756-4A48-B604-CA935F82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66875"/>
            <a:ext cx="2790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F5595-56AB-4D51-90EB-B756FA2C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743075"/>
            <a:ext cx="2638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Key finding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66C1E-3268-4C1D-9690-DB22CA12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05025"/>
            <a:ext cx="2524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DF198-D84E-460A-A6A5-B347D0F7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81225"/>
            <a:ext cx="23717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Structural health monitoring of civil structures powered by deep metric learning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94979D-F7CE-49F6-BB04-1E13B96E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105025"/>
            <a:ext cx="1066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8CF68-C714-4712-BA64-F341652D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81225"/>
            <a:ext cx="914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Torzoni, Manzoni &amp; Mariani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F82416-7A34-42ED-AD86-2BA0F7CA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105025"/>
            <a:ext cx="685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DE940-9779-4F72-A444-578FD616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181225"/>
            <a:ext cx="53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1454D-EC4E-4D95-BB7C-677A508D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05025"/>
            <a:ext cx="1571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20CA3F-8FF4-49A7-AA83-AE641422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81225"/>
            <a:ext cx="1419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Computers &amp; Structures</a:t>
            </a:r>
          </a:p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Elsevier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C63F9-EB2B-4042-BA84-7912987D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05025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1A58D1-D63B-4649-9699-778276E0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2562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Physics-generated vibration under varied damage positions → low-dimensional metric features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81B5F4-4DAA-41C9-9FF0-DC432240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05025"/>
            <a:ext cx="27908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5A4302-BA82-4950-8B9C-FDD275EB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181225"/>
            <a:ext cx="26384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Damage localisation remained robust to operational variation, measurement noise and model inaccuracies.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EC9D7F-AC14-4FA1-B3DF-DD0118EA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05150"/>
            <a:ext cx="2524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E45E17-CEE1-42E6-9C4A-940A4F4D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23717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Value of information from vibration-based SHM via Bayesian model updating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52E417-6CD7-4DB2-A2F1-F062F779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05150"/>
            <a:ext cx="1066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CEDD8E-10FA-4A00-9DEF-3585F0A5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81350"/>
            <a:ext cx="914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Kamariotis, Chatzi &amp; Straub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A8A0C3-94A6-40A8-ACB1-B4B24FF9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05150"/>
            <a:ext cx="685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80492C-39EB-475A-B316-FD09EE06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53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3868BA-3FC5-4982-8B8F-2DD663E0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05150"/>
            <a:ext cx="1571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44796F-AAF9-4F4C-B6B5-790A2085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81350"/>
            <a:ext cx="1419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Mechanical Systems and Signal Processing</a:t>
            </a:r>
          </a:p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Elsevier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C16566-49DC-4844-8960-2D08F6D4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92D14A-1F14-4894-A279-26E489F0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81350"/>
            <a:ext cx="2562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Accelerations + OMA modal data + deterioration/cost models → reliability, lifecycle cost and VoI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B414B4-92ED-48FC-83DC-50A87EB3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05150"/>
            <a:ext cx="27908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B47B03-277F-45DA-93D4-19AB07E4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81350"/>
            <a:ext cx="26384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Shows how monitoring information can be valued by the maintenance decisions it changes.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65CAFE-E8F3-452E-9B58-C667FFC0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05275"/>
            <a:ext cx="2524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2D54FE-12C0-4C4D-86DA-0646CC72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81475"/>
            <a:ext cx="23717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Bridging POMDPs and Bayesian decision making for robust maintenance planning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3BDCBB-7B92-4059-B104-C7B5C0C3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05275"/>
            <a:ext cx="1066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3FD5AB-EA8D-460F-BEA6-D56FE59E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181475"/>
            <a:ext cx="914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Arcieri et al.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ADFDF6-BDCF-44A3-B87F-AAC3043B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105275"/>
            <a:ext cx="685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B025DB-34AA-43DF-A27C-7CD02500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81475"/>
            <a:ext cx="53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7FC8FB-0BE9-47EB-8B89-7DB6A518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105275"/>
            <a:ext cx="1571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7A30B6-AD15-46BF-9542-0E7D2C0D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81475"/>
            <a:ext cx="1419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Reliability Engineering &amp; System Safety</a:t>
            </a:r>
          </a:p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Elsevier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6B757A-70E7-4947-95FD-9A17CDDA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05275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F69836-3F9F-4730-AD5A-BD9D2052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81475"/>
            <a:ext cx="2562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Railway indicators + model uncertainty + actions → robust maintenance policy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AE69C1-4462-4239-BFD4-28EB9C0A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105275"/>
            <a:ext cx="27908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707FE7-0A13-41D5-A0E3-2FB997C2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181475"/>
            <a:ext cx="26384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Explicit model uncertainty prevents overconfident maintenance policies and supports sequential decisions.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7A0466-41BF-4B82-B476-6F40CFAC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05400"/>
            <a:ext cx="2524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EADFA7-D25C-4331-955E-1AF4D0F0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23717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Water transport through cracked concrete structures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22AFBF-77EE-42DA-B308-44C085BF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105400"/>
            <a:ext cx="1066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FE757F-D8F3-474D-B878-3627866A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181600"/>
            <a:ext cx="914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Mengel, Krauss &amp; Lowke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0A4601-6B45-4A7A-874A-EA39F726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105400"/>
            <a:ext cx="685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CC1C33-2AEE-4C2F-AB2C-2C50580C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181600"/>
            <a:ext cx="53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777BD3-6079-45A6-967A-964B061E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105400"/>
            <a:ext cx="1571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185BB3-928A-4524-8529-FA524D78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181600"/>
            <a:ext cx="1419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Materials</a:t>
            </a:r>
          </a:p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MDPI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F10BA0-965F-4BBF-A8AF-4DD8476D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05400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B06E6E-FE64-494E-9E6E-03419352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81600"/>
            <a:ext cx="2562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Mixture proportion + µCT crack geometry → tortuosity, internal width and water flow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A5454BA-F2B9-4E6A-9564-1566B07E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105400"/>
            <a:ext cx="27908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C1C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AAAD95-B5FD-4C51-B42D-0263992B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181600"/>
            <a:ext cx="26384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Mixture-controlled crack geometry changes water transport; larger aggregate increased tortuosity and reduced flow.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3380D3-A5B1-456C-BE7C-1A7D5467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049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Eight recent journal articles selected for direct relevance to the project chain; chloride transport is intentionally excluded.</a:t>
            </a:r>
          </a:p>
        </p:txBody>
      </p:sp>
    </p:spTree>
    <p:extLst>
      <p:ext uri="{BB962C8B-B14F-4D97-AF65-F5344CB8AC3E}">
        <p14:creationId xmlns:p14="http://schemas.microsoft.com/office/powerpoint/2010/main" val="8889945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B6760-6144-499C-BD14-88A64265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STRUCIQ ·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16C3C-D336-4630-B6B4-E97BDE91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Research gap · the chain exists in pieces, not as one decision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1D11B-48F9-4A5D-B6DD-D9DC5633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51AE1-282E-4C5E-B8B1-43C5F89C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9A5FA-E39B-48C9-B464-1EF71606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38300"/>
            <a:ext cx="2571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4BE0D-34C4-4FF9-ADBE-6EAB5D3F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A9267-848E-4CEA-8ED6-3B4924D4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D7232-B79F-4221-BD62-DEE455B0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SHM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0FDD1-3EE7-41A4-9C2E-BA21A78E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2171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Detects change, but often stops at a damage indicator.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FF723-F8FE-4FDF-805E-CAD8F00D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289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1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C1C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B8C1C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CCA9B-5FC5-4D32-914E-6A49B053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38300"/>
            <a:ext cx="2571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AC624-7822-46C0-AD5A-1B81AE3C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C0F36-F27A-45D7-81B8-099532EC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57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96F08-7732-43A7-99A5-9A9158E1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Digital twin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BAA98-C25B-481A-8F49-7FE5C3AA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171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Updates a model, but may not carry full posterior covariance.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447CC-C974-4EAA-8D96-9AF8B856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289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1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C1C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B8C1C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83023-0D2A-4C60-9662-0BF2BA7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2571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8412F-B3BD-4630-BC7A-3315F0AB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F1E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15F7AA-A456-400A-ACCC-F611EE87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57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0F6CA-42AD-4CEF-AE9F-8C77B80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Durability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D142A-348B-4ECC-AA20-D8B3AB9B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171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Crack–water studies rarely connect to vibration-inferred member states.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5D51A-5098-4D94-8607-B909C7CC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289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1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C1C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B8C1C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36D10B-A530-4A3B-8F77-991AAF45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38300"/>
            <a:ext cx="2571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867405-E246-4AE8-899D-E2993A9C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solidFill>
              <a:srgbClr val="FFF4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6F99EA-F930-4F47-9F88-8A6395DA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57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0B51AE-27FB-4727-A167-7F3DBBE7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860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Maintenance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DB0911-E4D3-4B54-A89D-96E173B2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2171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Optimises actions, but is usually detached from experimentally earned structural states.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0B8501-0A16-4A99-916D-0C1F18BC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4850"/>
            <a:ext cx="96012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FC0636-71B7-4C3C-B15A-840B9C81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6DCBF4"/>
                </a:solidFill>
                <a:latin typeface="Times New Roman"/>
                <a:ea typeface="Times New Roman"/>
                <a:cs typeface="Times New Roman"/>
              </a:rPr>
              <a:t>THE GAP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DCEF66-3D14-4FC3-92F7-B28A3FE9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910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68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No reviewed study closes vibration → uncertainty-aware member state → present water-transport condition → code-referenced performance → constrained retrofit sequencing in one experimentally anchored chain.</a:t>
            </a:r>
          </a:p>
        </p:txBody>
      </p:sp>
    </p:spTree>
    <p:extLst>
      <p:ext uri="{BB962C8B-B14F-4D97-AF65-F5344CB8AC3E}">
        <p14:creationId xmlns:p14="http://schemas.microsoft.com/office/powerpoint/2010/main" val="618070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C7FE4A-25CF-4A77-991F-5E7631C7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STRUCIQ ·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40B04-8C7B-4D55-B9BE-CDA9F39B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Aim &amp;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31DBC-5198-4875-BE9D-7E93B87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53EDA-3C1A-428E-9238-2E359A98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33339-420A-4098-9063-D5B02A77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921E7-0852-4E82-B54A-F9B819C8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6DCBF4"/>
                </a:solidFill>
                <a:latin typeface="Times New Roman"/>
                <a:ea typeface="Times New Roman"/>
                <a:cs typeface="Times New Roman"/>
              </a:rPr>
              <a:t>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E76A7-F17B-452B-96B5-39F0847A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6210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Develop and experimentally calibrate a vibration-driven structural digital twin that converts uncertain member states into defensible retrofit and inspection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7A701-A043-4A91-BE76-4575A115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86050"/>
            <a:ext cx="3543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974FF-9BC9-44C0-A2FD-3D8DC7DC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B7185-E8AF-4BDA-BF60-9A843D1A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2D1D0-4414-4898-BB61-E65424DE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Sense and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BDBDF-ED29-4898-8353-02C4DCE0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Extract modal parameters while correcting environmental and operational variability.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054EE-2C2B-4A0F-B1E4-F4370A4A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6050"/>
            <a:ext cx="3543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0628C-BD9F-4B79-8905-9240B195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6096B-8B4A-4E7E-991A-9467AC45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051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444FF-5BFA-40CC-9313-9D9D8162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38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Infer member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667F5-6A96-4A43-92D1-4902E712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Estimate per-member stiffness ratio α with full posterior covariance.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1EB53-16E6-494C-A3DA-BE09FACD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3962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34C9A-000C-4753-BC0D-FC250B76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B0"/>
          </a:solidFill>
          <a:ln xmlns:a="http://schemas.openxmlformats.org/drawingml/2006/main" w="0">
            <a:solidFill>
              <a:srgbClr val="6B4B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F9B36-AED1-4BE4-93DE-910E69D0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051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E906C-8894-42A5-962A-1C3E6425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Calibrate transport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04DB8-B15B-4101-93B3-1B6736F3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3181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Relate α, crack width and orientation to ASTM C1585 sorptivity.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4E9CE-6CEA-4AD7-8A4E-440C28AD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3543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D0B7FD-38BE-4000-BDFE-6C542A34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5A"/>
          </a:solidFill>
          <a:ln xmlns:a="http://schemas.openxmlformats.org/drawingml/2006/main" w="0">
            <a:solidFill>
              <a:srgbClr val="1887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6FC03D-11B3-4AF2-B0DE-E7F92103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0F005-549F-4760-B7D9-0DB24407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Classify performance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07CBEF-D83C-45A4-B929-9D1EA1AD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5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Map state to N-modified component acceptance and conformal performance levels.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79F3F4-1AD1-4163-9282-83A88E53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19550"/>
            <a:ext cx="7658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D9E513-5730-470D-880A-366FB181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A0A"/>
          </a:solidFill>
          <a:ln xmlns:a="http://schemas.openxmlformats.org/drawingml/2006/main" w="0">
            <a:solidFill>
              <a:srgbClr val="C77A0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E1192E-82ED-4ED4-A935-7A31863C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38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CE2D1D-9B72-4890-9DA8-E1EEB347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71950"/>
            <a:ext cx="687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Optimise decisions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7F5725-1132-4810-A24E-443A9FA2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95800"/>
            <a:ext cx="687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Jointly select acquisition, repair, sequencing and scheduling under hard constraints.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3200D9-53C2-4E81-9B10-9E5E8EF6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05450"/>
            <a:ext cx="11353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D3DC11-2FB3-4D2D-9B99-79785C7B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Primary experimental readout: water sorptivity. Primary computational output: a feasible intervention schedule with quantified uncertainty.</a:t>
            </a:r>
          </a:p>
        </p:txBody>
      </p:sp>
    </p:spTree>
    <p:extLst>
      <p:ext uri="{BB962C8B-B14F-4D97-AF65-F5344CB8AC3E}">
        <p14:creationId xmlns:p14="http://schemas.microsoft.com/office/powerpoint/2010/main" val="3043765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761CF-8A92-4068-8995-C2CF406A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STRUCIQ ·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615CA-0D7B-423E-B30C-70EE6ACB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Architecture · the chain from sensing to retrofit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B7762-2D06-4553-8724-6C56E069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D7073-94B1-4590-95CB-9EEC1CFB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90C5B-2BC8-4F5D-862E-DE5B47DA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4248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solidFill>
              <a:srgbClr val="E8F7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2D0CE-60D1-4FEE-A3B4-0559B2E1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rPr>
              <a:t>DEFINED ARCHITECTURE · EXPERIMENTAL COEFFICIENTS 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2B1CE-BDD4-42F1-B399-BFC30A02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11353800" cy="45148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633cc15154044"/>
          <a:stretch xmlns:a="http://schemas.openxmlformats.org/drawingml/2006/main"/>
        </p:blipFill>
        <p:spPr>
          <a:xfrm xmlns:a="http://schemas.openxmlformats.org/drawingml/2006/main">
            <a:off x="2269067" y="1752600"/>
            <a:ext cx="7653867" cy="430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112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5469D-BD72-480B-B8C9-BB07B4BB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STRUCIQ ·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A8466-0BA7-4F9B-9335-D2A07F23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Two-tier state · use only the information that actually exists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BAF6B-D174-46C5-88E1-725EC7D7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F0C76-BF19-4572-BB2C-C84677D8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93761-8CF0-4806-AD27-D7BBF68B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483870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29F4C-C3FB-42C6-B6D3-02063873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BAB7D-C27A-4465-BFFF-064547DE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CONTINUOUS 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6A7D1-A1A6-46BD-B603-8008509E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Vibration + environment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46D48-AC7A-4703-B02A-2347B664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99211-F0B4-40A6-A904-3BC46434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3733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42A60-6189-4748-8870-94FA42E4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766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α with covariance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BF885-1C75-4362-9602-9E31F179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Reduced M(α) · deliberately wider uncertainty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0A2E7-2B2B-4886-A9F7-8409099F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62100"/>
            <a:ext cx="483870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F1E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ECAB7-3312-4943-B272-6CE97711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716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9C38F-6E7B-4752-B98D-FBFB5C2C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192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rPr>
              <a:t>INSPECTION TIER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D0210-3368-4BE4-80C9-E3147E9D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Directed crack survey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13B13-0A4B-4C76-B288-BDE6D292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0510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CCD09-130C-4272-8CA2-41EB9AFF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3733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FFACD-4312-43AB-A48A-7112EF26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766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rPr>
              <a:t>α + w + 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DDCCC-66B6-4642-9C0B-EB5140FE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385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Full M(α,w,θ) · tighter experimental band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434FA-38C4-42A8-8F12-D340E31A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241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2A46B-4B89-4945-ACB6-EAF93B06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337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2424E-BB86-43A3-87C7-2F8E9EAF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8915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solidFill>
              <a:srgbClr val="FFF4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4C614-24C2-4E39-BA89-8B9B9512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10200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Geometry remains valid for k periods or until a new damage event. Acquisition is therefore a decision with cost and timing—not a permanent assumption.</a:t>
            </a:r>
          </a:p>
        </p:txBody>
      </p:sp>
    </p:spTree>
    <p:extLst>
      <p:ext uri="{BB962C8B-B14F-4D97-AF65-F5344CB8AC3E}">
        <p14:creationId xmlns:p14="http://schemas.microsoft.com/office/powerpoint/2010/main" val="15347368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C33F0C-163A-4309-B45C-DB8D11C2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STRUCIQ ·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A0CD8-660A-476D-8928-1C06252B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Decision layer · uncertainty becomes an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895C0-ADB3-4C0B-910C-9ACD9B3C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9DE7E-EDE5-4B18-B272-E16890A1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37DF2-70B0-4898-A539-8EDC0316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1925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DB755-EFEC-4EC6-A4CE-29F93193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>
              <a:alpha val="13333"/>
            </a:srgbClr>
          </a:solidFill>
          <a:ln xmlns:a="http://schemas.openxmlformats.org/drawingml/2006/main" w="0">
            <a:solidFill>
              <a:srgbClr val="3D8DFF">
                <a:alpha val="1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707CA-A2F1-47DF-B900-5BE9ACC3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0879C-2934-44F9-B442-5BB07576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α covariance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+ cover 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6B31B-9BB2-4766-AC0F-1C58A832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955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09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C1C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8C1C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641DC-8CC8-4069-A3E0-A4D0F6F0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CA134-3397-49FE-BA51-72B54008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4BB0">
              <a:alpha val="13333"/>
            </a:srgbClr>
          </a:solidFill>
          <a:ln xmlns:a="http://schemas.openxmlformats.org/drawingml/2006/main" w="0">
            <a:solidFill>
              <a:srgbClr val="6B4BB0">
                <a:alpha val="1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A3B0A-56ED-4445-AE2F-867AE88B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383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rPr>
              <a:t>OPTIONS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1D380-AEBA-4F61-A1D6-C4C1EAD5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Inspect · inject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 coat · jacket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689DA-FB82-47E3-880F-A95C52CE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09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C1C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8C1C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61313-40A3-458F-A5BA-95F93F75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21B04-9158-4001-A087-23975326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4"/>
          </a:solidFill>
          <a:ln xmlns:a="http://schemas.openxmlformats.org/drawingml/2006/main" w="0">
            <a:solidFill>
              <a:srgbClr val="E9EE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BDA70-5B6B-4C34-8C3D-5076AB5B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383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QUBO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3368C-1994-462E-8AA1-FD0F4FED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Expected benefit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− λ variance − cost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8C5BF-7386-4D4F-9695-DBFA519B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09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C1C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8C1C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53032-8E3B-460F-B5E8-B497921D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1925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F18F5-CCEB-4E55-9FB3-6A890048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907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75A">
              <a:alpha val="13333"/>
            </a:srgbClr>
          </a:solidFill>
          <a:ln xmlns:a="http://schemas.openxmlformats.org/drawingml/2006/main" w="0">
            <a:solidFill>
              <a:srgbClr val="18875A">
                <a:alpha val="13333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60A19B-BAE8-45F9-9F32-3C6F9ADD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383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rPr>
              <a:t>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0D74C5-E460-4F2E-AF41-92A66E90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860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Who · what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 which period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0DD1D0-9FEF-4C42-A4D8-66AAE318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62350"/>
            <a:ext cx="5410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1A227-0F99-47E4-85B3-56EAF9C0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Separate budgets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09074-D65E-4B23-931C-357FB4EF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9570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Inspection and intervention resources are not fungible.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9E0CBE-8C87-453E-A053-2B030E53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5410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B90FC5-5F48-465C-ABFE-30E914A8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Hard precedence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59FFDA-A38B-4036-B167-F4AB2628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Cover repair must precede jacketing on the same member.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6C73A8-8F8D-4893-B933-EAB06918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29150"/>
            <a:ext cx="5410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EC3DAF-8D0B-4038-9658-EA9AE5DF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Temporal separation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C4CE93-CA33-4C51-80E5-AE9FFB2E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6250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Geometry at period t can inform intervention no earlier than t+1.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FA682A-5BF3-4BF0-8F40-B0372CC1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5410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8B06C4-0810-4DD0-91F3-69D41334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Operational limit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A00FDF-CCFB-42C2-AFC0-484EEF74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Cap members simultaneously taken out of service.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E2B7DC-DA40-4AE6-AA8B-F7C26DB0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Exact MILP provides the benchmark; QUBO provides the interaction-aware formulation and scaling study.</a:t>
            </a:r>
          </a:p>
        </p:txBody>
      </p:sp>
    </p:spTree>
    <p:extLst>
      <p:ext uri="{BB962C8B-B14F-4D97-AF65-F5344CB8AC3E}">
        <p14:creationId xmlns:p14="http://schemas.microsoft.com/office/powerpoint/2010/main" val="5283852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270C3F-B7C1-49A1-83CC-AEE6ADCD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STRUCIQ ·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39092-568A-4F0C-AFA2-93D685F1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Experimental campaign · cast, damage, measure, calibrate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BEEB4-F129-4D90-A2B2-CB3F6EE0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BB8B0-CFB2-41B5-ACCC-CADE226E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A0760-9F2E-4553-8C60-EED65664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95400"/>
            <a:ext cx="2609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solidFill>
              <a:srgbClr val="FFF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74CE1-CA1A-4618-BB0E-079F2BEF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43025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PLANNED · REVIEW 2 METHODOLOGY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81791-617F-4D0A-8E49-958D4E83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85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B12B2-2BCC-4B9F-AC06-90D06E05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A8DAF-C8D5-49DE-B2BF-25498F62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19325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BC423-9E67-4826-BDFD-C7AE6C75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55C3A-0EEE-474E-9750-BBF967C1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0"/>
            <a:ext cx="198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RC members with controlled geometry and sensor locations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6622F-07A2-4265-A08D-2D90A07C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85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410DF-B99A-4771-AAC5-FCE4039C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76921-ABF1-4C11-851D-2EB36BD6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19325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766D2-B1B1-4ABB-8F7C-61A88BB8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003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992B6-FF8F-4E5D-8B49-7503AED7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38500"/>
            <a:ext cx="198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Modal response + environment + intact 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39542-08C1-42F9-BB72-324588DF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85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79DDD-FA15-4E9E-A87C-2D74F227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764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1C7BA-B39C-458E-B78F-7FB73D5A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19325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95DBD-6BF2-46C6-8B73-F7F3B3C8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003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Grade damage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DBBC1-F12C-46AF-B3B3-8D6CB4E0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38500"/>
            <a:ext cx="198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UTM displacement control in fixed shallow increments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7DF48-C514-4840-9D12-86240AE3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B0"/>
          </a:solidFill>
          <a:ln xmlns:a="http://schemas.openxmlformats.org/drawingml/2006/main" w="0">
            <a:solidFill>
              <a:srgbClr val="6B4BB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BF5C8-428F-4402-97D9-55719537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ABB418-EDDA-4675-8A7E-5757B676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19325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78B9AB-9D53-425A-AE19-76BBD6B7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003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Survey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3961E-C6FD-4FAD-96B5-359EC84E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198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Crack width w and orientation θ with calibrated imaging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4B0946-3FB7-4F6D-8B12-E5D53410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85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B0"/>
          </a:solidFill>
          <a:ln xmlns:a="http://schemas.openxmlformats.org/drawingml/2006/main" w="0">
            <a:solidFill>
              <a:srgbClr val="6B4BB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9C508A-80F7-464B-918F-00762DEE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764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961F64-3D98-44CC-ABF4-99128F98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03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Transport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11C038-326D-4325-9D68-F4DE8BF7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38500"/>
            <a:ext cx="198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Cut specimens and measure ASTM C1585 sorptivity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D5C3C1-4367-4800-8FE7-1B4C5275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0"/>
            <a:ext cx="5391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0C8BEA-5D20-41E3-B8D5-F2DF7E4D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Primary loading route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C03DB9-CAC4-4007-A627-94D3D077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06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UTM displacement control; shake-table loading remains an optional extension.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F5AE6F-B32B-4CFF-8244-5F806DDE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5772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0">
            <a:solidFill>
              <a:srgbClr val="F1EC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CB658B-C24E-4FD6-8E1E-24639B07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33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rPr>
              <a:t>Primary response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F22B40-E99A-4B6E-BA82-51B00712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38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3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Water sorptivity—not chloride ingress—paired with α, w and θ for held-out model comparison.</a:t>
            </a:r>
          </a:p>
        </p:txBody>
      </p:sp>
    </p:spTree>
    <p:extLst>
      <p:ext uri="{BB962C8B-B14F-4D97-AF65-F5344CB8AC3E}">
        <p14:creationId xmlns:p14="http://schemas.microsoft.com/office/powerpoint/2010/main" val="14026432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C10216-90C4-40AE-BDEB-FEE97277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STRUCIQ ·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56542-D19D-4478-8758-B39136BB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What we have learned computationally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EFA6D-68E5-4C7E-AA15-80FF8E1C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55660-7F02-46F3-85B4-64602EBB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00926-0B76-4EBB-B908-1222CDBD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35433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7DD55-2772-45A2-846B-55D96F89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D7C1F-4324-4094-AECB-20A5CDDB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61B87-9CAC-4B25-B38C-2A65C876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55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4"/>
          </a:solidFill>
          <a:ln xmlns:a="http://schemas.openxmlformats.org/drawingml/2006/main" w="0">
            <a:solidFill>
              <a:srgbClr val="E9EE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0B9AC-7BBE-46EE-BD3E-11A086AA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2895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Mode shapes break the left/right symmetry; extra channels gave little precision gain in the 3-parameter portal study.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CE12F-2BF6-4A43-84E3-F0783D63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562100"/>
            <a:ext cx="35433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78DF8-CCA2-4AF2-B852-303BB142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47850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rPr>
              <a:t>19 / 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E39A4-CF66-470B-A38A-570D9FC6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241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MEMBERS SEPARABLE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AA173-7D5B-4348-8B14-BA9C9443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43250"/>
            <a:ext cx="255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4"/>
          </a:solidFill>
          <a:ln xmlns:a="http://schemas.openxmlformats.org/drawingml/2006/main" w="0">
            <a:solidFill>
              <a:srgbClr val="E9EE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6F4DF-6BF1-4C03-BC8D-F50F3DF1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71850"/>
            <a:ext cx="2895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 sparse prior reduced mean posterior SD from 0.164 to 0.096 in the illustrative 21-member case.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6A779-AAB6-4D88-BBCB-C55036AF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5433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30095-17E0-4547-AC3D-9941D53F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47850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43280-8FC9-4415-9796-CE6BD2D9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INDEPENDENT SEEDS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42FA4D-C661-48B4-9DEB-6FFACF11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55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4"/>
          </a:solidFill>
          <a:ln xmlns:a="http://schemas.openxmlformats.org/drawingml/2006/main" w="0">
            <a:solidFill>
              <a:srgbClr val="E9EE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2E6A7-ECEE-40A0-A822-CE3081CC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2895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Flat, sparse and oracle planning distributions were tested rather than judged from one annealing run.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7EF4A-13FA-4B3E-8E1F-68336C90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439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D038F-57D3-42D6-9879-1684468D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6DCBF4"/>
                </a:solidFill>
                <a:latin typeface="Times New Roman"/>
                <a:ea typeface="Times New Roman"/>
                <a:cs typeface="Times New Roman"/>
              </a:rPr>
              <a:t>Design consequence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486FCC-C291-45F0-8D5A-14B749BE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91125"/>
            <a:ext cx="815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72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Measure better, parameterise by physical member, retain covariance, and report solver distributions—not a single favourable run.</a:t>
            </a:r>
          </a:p>
        </p:txBody>
      </p:sp>
    </p:spTree>
    <p:extLst>
      <p:ext uri="{BB962C8B-B14F-4D97-AF65-F5344CB8AC3E}">
        <p14:creationId xmlns:p14="http://schemas.microsoft.com/office/powerpoint/2010/main" val="13898035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EDAABD-9DF2-43A0-A084-C20C4E0B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STRUCIQ ·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DD36B-BE6C-4880-AD5A-BE8DE18D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Work done · executable evidence already produced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FE006-7CBA-46B4-848F-71C2FC93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02D0D-6128-40F3-91BE-7799DFC8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8C7AD-5924-4937-A75F-AF0DE0D9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4514850" cy="4438650"/>
          </a:xfrm>
          <a:prstGeom xmlns:a="http://schemas.openxmlformats.org/drawingml/2006/main" prst="roundRect">
            <a:avLst>
              <a:gd name="adj" fmla="val 25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1846C-F846-4832-A984-A118E25C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5A"/>
          </a:solidFill>
          <a:ln xmlns:a="http://schemas.openxmlformats.org/drawingml/2006/main" w="0">
            <a:solidFill>
              <a:srgbClr val="1887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25C18-6083-4064-9AEB-6581CCBE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BEA9D-ABF9-49F6-BCD8-179D52A6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954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Portal-frame FE model and modal benchmark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FAFB9-ABFB-4E3D-A7FA-2B232B8A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5A"/>
          </a:solidFill>
          <a:ln xmlns:a="http://schemas.openxmlformats.org/drawingml/2006/main" w="0">
            <a:solidFill>
              <a:srgbClr val="1887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0F40A-753D-4A61-A8D2-7F625E41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D47B8-9BF8-4022-95A8-498E6E0E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8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Fisher-information sensor and parameterisation study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351CA-F02F-49AE-BD26-27273FD0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5A"/>
          </a:solidFill>
          <a:ln xmlns:a="http://schemas.openxmlformats.org/drawingml/2006/main" w="0">
            <a:solidFill>
              <a:srgbClr val="1887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A6328-F7EC-412E-9F31-EB83B65F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30DFD-596E-4FCE-A52C-B6BBB980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Sparse Bayesian member-state estimation with covariance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A4A11-B127-4289-8E09-41FE72C9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5A"/>
          </a:solidFill>
          <a:ln xmlns:a="http://schemas.openxmlformats.org/drawingml/2006/main" w="0">
            <a:solidFill>
              <a:srgbClr val="1887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AE2EC-6B2E-495E-8848-13C8703E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C18A44-82D7-450F-9C39-36B3D008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2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21-member, 6-period decision instance: 504 primary / 678 total bits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9439C-2181-4668-B4FB-F6EB4AF0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5A"/>
          </a:solidFill>
          <a:ln xmlns:a="http://schemas.openxmlformats.org/drawingml/2006/main" w="0">
            <a:solidFill>
              <a:srgbClr val="1887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A95E4-FE76-4F81-A133-098FDCEF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F9CD51-A80E-4259-8DCF-AF7FA7F3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11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Independent feasibility checker and penalty negative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90762-CECF-4FE2-B9DD-61AFB797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5A"/>
          </a:solidFill>
          <a:ln xmlns:a="http://schemas.openxmlformats.org/drawingml/2006/main" w="0">
            <a:solidFill>
              <a:srgbClr val="1887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D1FC0-440E-49F6-A09A-D144F0EE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572F8-BA09-46AC-8F76-166F8407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Exact MILP benchmark + exact enumeration ladder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AB36D0-A1A9-4C1F-9052-D9220FEF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5A"/>
          </a:solidFill>
          <a:ln xmlns:a="http://schemas.openxmlformats.org/drawingml/2006/main" w="0">
            <a:solidFill>
              <a:srgbClr val="1887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4B430-9041-4CDA-8AC6-024D7341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9B9FD-8924-442A-A27D-7C96E9A2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50-seed prior/oracle planning diagnosis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301FC4-6FDB-497C-BA0B-2DB98413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466850"/>
            <a:ext cx="65913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79096be8148c8"/>
          <a:stretch xmlns:a="http://schemas.openxmlformats.org/drawingml/2006/main"/>
        </p:blipFill>
        <p:spPr>
          <a:xfrm xmlns:a="http://schemas.openxmlformats.org/drawingml/2006/main">
            <a:off x="6564647" y="1581150"/>
            <a:ext cx="3825206" cy="19431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853212-D5E5-47A8-A0AA-398834BF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10000"/>
            <a:ext cx="65913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0cacff6014b82"/>
          <a:stretch xmlns:a="http://schemas.openxmlformats.org/drawingml/2006/main"/>
        </p:blipFill>
        <p:spPr>
          <a:xfrm xmlns:a="http://schemas.openxmlformats.org/drawingml/2006/main">
            <a:off x="6805986" y="3924300"/>
            <a:ext cx="3342527" cy="18097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9A1D14-5C62-4076-AA07-D9E16D5E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57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81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Verification evidence: exact optimum is known only on reduced ladders; full-scale QUBO optimality is benchmarked against exact MILP.</a:t>
            </a:r>
          </a:p>
        </p:txBody>
      </p:sp>
    </p:spTree>
    <p:extLst>
      <p:ext uri="{BB962C8B-B14F-4D97-AF65-F5344CB8AC3E}">
        <p14:creationId xmlns:p14="http://schemas.microsoft.com/office/powerpoint/2010/main" val="6418025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2A6AD5-3BED-440C-BB07-9A077786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STRUCIQ ·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E5D15-D46D-4459-AE61-AA1D1BA1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Work to be done · experimental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A23A5-26DF-4671-9C1A-E6AAEDAF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36295-BF36-4354-A5A6-AA333524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91852-EFA0-4D75-9616-43DA478A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3543300" cy="41529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3AE5C-E803-40C9-8CD5-5768A725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962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>
              <a:alpha val="13333"/>
            </a:srgbClr>
          </a:solidFill>
          <a:ln xmlns:a="http://schemas.openxmlformats.org/drawingml/2006/main" w="0">
            <a:solidFill>
              <a:srgbClr val="3D8DFF">
                <a:alpha val="13333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933A2-1B73-4A68-94D3-7D14B0D9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NOW → OCT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782E5-4046-471F-BEDD-0F17094A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Freeze experiment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DF0E9-148A-4A09-A13F-C144C620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65FEA-F86D-40A9-BA91-E30E948F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541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F8274-F7B0-4947-8633-B246ABF3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Specimen and damage-grade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B1B89-E377-46F6-B723-5A9D1E34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3A644-FD62-4207-BC7B-67807339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541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28611-4F2F-41C9-9BCF-96BC71BE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Sensor clock and OMA protocol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DBD43-6CDE-46DE-A907-6F58B1E9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62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C08EB-CD40-4995-AA45-2400607F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541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DB064-ABAC-47AA-940A-748C247E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Imaging calibration + uncertainty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6C6B6-09EC-483F-959D-D1A03059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52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7CBF3-864F-4C28-AD4B-17D110D7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541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040B8-2E79-455C-9324-E85DC5E8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Pre-register nested M models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B173E0-6313-461F-8D2F-EE35F312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504950"/>
            <a:ext cx="3543300" cy="41529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16B06-93C8-4A66-A24F-E961C13B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14500"/>
            <a:ext cx="1962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4BB0">
              <a:alpha val="13333"/>
            </a:srgbClr>
          </a:solidFill>
          <a:ln xmlns:a="http://schemas.openxmlformats.org/drawingml/2006/main" w="0">
            <a:solidFill>
              <a:srgbClr val="6B4BB0">
                <a:alpha val="1333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12D7A-8AA6-47C3-A4D2-CEED2E79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7621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rPr>
              <a:t>NOV 2026 → JAN 2027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344360-D23F-4C8C-BE7F-72034C36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669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Run campaign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3D60F0-EF94-4279-B737-6BA6DE91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81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B0"/>
          </a:solidFill>
          <a:ln xmlns:a="http://schemas.openxmlformats.org/drawingml/2006/main" w="0">
            <a:solidFill>
              <a:srgbClr val="6B4BB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075771-2EDC-4AD6-83E8-4BB3A8A1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0037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541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869C32-E94B-45FE-8BC8-FCCA2116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Cast and cure specimens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B2627D-0EB5-40C4-833C-358661F7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71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B0"/>
          </a:solidFill>
          <a:ln xmlns:a="http://schemas.openxmlformats.org/drawingml/2006/main" w="0">
            <a:solidFill>
              <a:srgbClr val="6B4BB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A7FC38-4376-4D89-B3BB-709DAF44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9092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541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B0A5CB-2CBF-4E34-B313-B155F9BA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43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Baseline modal characterisation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AB809C-7DF4-49DB-A3CE-898EF620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62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B0"/>
          </a:solidFill>
          <a:ln xmlns:a="http://schemas.openxmlformats.org/drawingml/2006/main" w="0">
            <a:solidFill>
              <a:srgbClr val="6B4BB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49F441-7569-41B9-A570-AC985CEC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8147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541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43D898-B67B-4B35-A999-2856C59E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1338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Controlled graded damage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3A7D25-AB3B-4C8A-AA29-5FF07E6E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52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B0"/>
          </a:solidFill>
          <a:ln xmlns:a="http://schemas.openxmlformats.org/drawingml/2006/main" w="0">
            <a:solidFill>
              <a:srgbClr val="6B4BB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CC9519-0E6B-46C9-9362-C0520834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7202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541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542B41-30A3-438F-B0B0-85189AFA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7244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Crack survey and sorptivity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1C00E7-4979-43C3-A8A6-E64D0F1D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3543300" cy="41529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EC3741-7E46-4CC2-AD06-95F274B0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1962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75A">
              <a:alpha val="13333"/>
            </a:srgbClr>
          </a:solidFill>
          <a:ln xmlns:a="http://schemas.openxmlformats.org/drawingml/2006/main" w="0">
            <a:solidFill>
              <a:srgbClr val="18875A">
                <a:alpha val="13333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E3DA3F-A6AE-4B08-9EE2-58A50B80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621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rPr>
              <a:t>FEB → APR 2027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C5792E-EA99-4BA1-9B30-DB83AD91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Validate and integrate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F11F4F-03ED-4C93-B951-C24AE9EF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5A"/>
          </a:solidFill>
          <a:ln xmlns:a="http://schemas.openxmlformats.org/drawingml/2006/main" w="0">
            <a:solidFill>
              <a:srgbClr val="18875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0F82AD-5027-40D1-B09B-C45022E8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541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6CE1C3-CF4B-4787-9BFF-7EF4EDAE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52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Held-out comparison of M models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C12B07-FA35-4CF6-BB9A-667E2B4D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5A"/>
          </a:solidFill>
          <a:ln xmlns:a="http://schemas.openxmlformats.org/drawingml/2006/main" w="0">
            <a:solidFill>
              <a:srgbClr val="18875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E4B268-D13E-4ADB-82AD-21F79080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9092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541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5DCC72-1FB0-4972-8888-40EFF64E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43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Physical calibration of 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458653-41E4-4810-A138-E7A2CD4C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62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5A"/>
          </a:solidFill>
          <a:ln xmlns:a="http://schemas.openxmlformats.org/drawingml/2006/main" w="0">
            <a:solidFill>
              <a:srgbClr val="18875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76702E-F3E9-47E4-B173-879FC269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8147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541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2852D2-40B7-4D6D-8AEC-9924FD31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338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End-to-end decision case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ADAB11-4431-414E-9796-03A47F04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52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5A"/>
          </a:solidFill>
          <a:ln xmlns:a="http://schemas.openxmlformats.org/drawingml/2006/main" w="0">
            <a:solidFill>
              <a:srgbClr val="18875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E8EDB8-F188-49F1-9BC3-BB7B703D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7202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541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C974D0-068A-46CA-B766-ED3DAF3C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244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Final report, code and defence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906B41-6380-424A-AB46-C3087606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924550"/>
            <a:ext cx="8801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solidFill>
              <a:srgbClr val="FFF4D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20B955-9198-4E74-9D58-1716B841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9800"/>
            <a:ext cx="842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Review 2 endpoint: methodology frozen and pilot measurements demonstrated—not a forced claim of full physical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14821397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AC0B2A-2D63-4666-B330-DCC3657C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STRUCIQ ·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5C25F-5768-4337-9484-B5D76928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Roadmap · Review 1 to April 2027 submission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AAE56-F0EB-4F82-B161-16AF7930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E317C-9C51-4C9D-84BD-E2A18DF8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6B62F-0AFA-49F4-84EE-44813173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0210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81636-FDD4-455F-98F0-8789148D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2E78D-84C5-4738-B396-09302295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62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52C1D-7DF4-4B48-86A1-283EC69D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>
              <a:alpha val="13333"/>
            </a:srgbClr>
          </a:solidFill>
          <a:ln xmlns:a="http://schemas.openxmlformats.org/drawingml/2006/main" w="0">
            <a:solidFill>
              <a:srgbClr val="3D8DFF">
                <a:alpha val="1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0947D-971B-49BE-9FD1-429A29BE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AUG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A3768-A2DA-45C3-8C86-76FFD7B1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Review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82FE6-46BF-45E6-B362-B68A3C62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43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9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Problem · gap · objectives</a:t>
            </a:r>
          </a:p>
          <a:p xmlns:a="http://schemas.openxmlformats.org/drawingml/2006/main">
            <a:pPr algn="ctr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Architecture + simulation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84B72-BE2C-49D5-9FCF-62791B74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718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6B4BB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02EAE-E59E-4380-B9CE-56EEDA5E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62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B0"/>
          </a:solidFill>
          <a:ln xmlns:a="http://schemas.openxmlformats.org/drawingml/2006/main" w="0">
            <a:solidFill>
              <a:srgbClr val="6B4B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7A50E-78B7-450E-8BC3-3C2B6F3D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577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4BB0">
              <a:alpha val="13333"/>
            </a:srgbClr>
          </a:solidFill>
          <a:ln xmlns:a="http://schemas.openxmlformats.org/drawingml/2006/main" w="0">
            <a:solidFill>
              <a:srgbClr val="6B4BB0">
                <a:alpha val="13333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E4E61-1A5D-4E62-B71F-72315A25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0532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rPr>
              <a:t>OCT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D8CAA-CAC3-4DE9-BFBE-705446D3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339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Review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2FC99-E0D3-4D6E-BD3D-7EA3A7A6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149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34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Frozen methodology</a:t>
            </a:r>
          </a:p>
          <a:p xmlns:a="http://schemas.openxmlformats.org/drawingml/2006/main">
            <a:pPr algn="ctr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Pilot sensing and test protocol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3483C-2CC2-42F7-868A-3996B73C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718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C77A0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0D3113-B9EE-4BBB-8595-15C206B3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62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A0A"/>
          </a:solidFill>
          <a:ln xmlns:a="http://schemas.openxmlformats.org/drawingml/2006/main" w="0">
            <a:solidFill>
              <a:srgbClr val="C77A0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2AD13D-B491-407A-8EEE-7EBC50E1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859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A0A">
              <a:alpha val="13333"/>
            </a:srgbClr>
          </a:solidFill>
          <a:ln xmlns:a="http://schemas.openxmlformats.org/drawingml/2006/main" w="0">
            <a:solidFill>
              <a:srgbClr val="C77A0A">
                <a:alpha val="1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386BF8-448D-4AD8-8461-B1FFC663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3352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JAN 2027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D8CA5-1617-419D-B62C-F9A740D3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621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Campaign 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1E465D-E29F-445B-AE11-D7568694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Graded damage, imaging</a:t>
            </a:r>
          </a:p>
          <a:p xmlns:a="http://schemas.openxmlformats.org/drawingml/2006/main">
            <a:pPr algn="ctr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and sorptivity 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D7BD86-2F26-4105-8845-DF145240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718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1887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4C1DE6-F8C5-4FAB-B51C-92A67559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5A"/>
          </a:solidFill>
          <a:ln xmlns:a="http://schemas.openxmlformats.org/drawingml/2006/main" w="0">
            <a:solidFill>
              <a:srgbClr val="1887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316844-62EE-42A7-A659-2902FD96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577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75A">
              <a:alpha val="13333"/>
            </a:srgbClr>
          </a:solidFill>
          <a:ln xmlns:a="http://schemas.openxmlformats.org/drawingml/2006/main" w="0">
            <a:solidFill>
              <a:srgbClr val="18875A">
                <a:alpha val="1333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803B21-69A2-4B13-8220-E519AA80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0532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rPr>
              <a:t>MAR 2027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07A0D-E28B-41DF-9676-991D7248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339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8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Integrated 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05A718-7E2D-472C-B21D-A20F03E8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3149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9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Held-out M / N evaluation</a:t>
            </a:r>
          </a:p>
          <a:p xmlns:a="http://schemas.openxmlformats.org/drawingml/2006/main">
            <a:pPr algn="ctr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Decision study and exact checks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D37770-8254-4EF1-AE9B-B51672B1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0B122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032C65-73D1-4F24-80D1-D08ACD92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62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A12EC3-97B3-43FC-801A-873DF24D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859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>
              <a:alpha val="13333"/>
            </a:srgbClr>
          </a:solidFill>
          <a:ln xmlns:a="http://schemas.openxmlformats.org/drawingml/2006/main" w="0">
            <a:solidFill>
              <a:srgbClr val="0B1220">
                <a:alpha val="13333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333EFB-B3EE-4935-ADD0-F70A50C1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3352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APR 2027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C42750-CE53-4899-B30D-FD151313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621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Submission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5D4D77-5B18-4B9A-BC2F-1A813065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43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Final report · code · data</a:t>
            </a:r>
          </a:p>
          <a:p xmlns:a="http://schemas.openxmlformats.org/drawingml/2006/main">
            <a:pPr algn="ctr"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Presentation and viva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B10C23-1FDD-4CAA-9C8D-0F52A786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531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The critical path is experimental—not slideware: freeze protocol → collect paired measurements → hold out validation → integrate decisions.</a:t>
            </a:r>
          </a:p>
        </p:txBody>
      </p:sp>
    </p:spTree>
    <p:extLst>
      <p:ext uri="{BB962C8B-B14F-4D97-AF65-F5344CB8AC3E}">
        <p14:creationId xmlns:p14="http://schemas.microsoft.com/office/powerpoint/2010/main" val="17337917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1CAC9-1C81-4C04-ADC6-BC5DF359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STRUCIQ ·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74A29-A0E1-4726-8EB5-5C7569DA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References · APA style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44079-86A8-412F-8879-2F0E8282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C"/>
          </a:solidFill>
          <a:ln xmlns:a="http://schemas.openxmlformats.org/drawingml/2006/main" w="0">
            <a:solidFill>
              <a:srgbClr val="B8C1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C301A-9204-4CB6-BB54-100BB5BE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332D4-7E2B-4EF4-96CB-4AC9F64A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5467350" cy="4705350"/>
          </a:xfrm>
          <a:prstGeom xmlns:a="http://schemas.openxmlformats.org/drawingml/2006/main" prst="roundRect">
            <a:avLst>
              <a:gd name="adj" fmla="val 2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47830-2B7C-4843-B6C6-6EA099DA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5695950" cy="4705350"/>
          </a:xfrm>
          <a:prstGeom xmlns:a="http://schemas.openxmlformats.org/drawingml/2006/main" prst="roundRect">
            <a:avLst>
              <a:gd name="adj" fmla="val 2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6F0BE-00A7-4ABD-82C1-4AFA6B0F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086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Pirrò, M., Pereira, S., Gentile, C., Magalhães, F., &amp; Cunha, Á. (2025). Damage detection under environmental and operational variability using the cointegration technique. Engineering Structures, 328, 119700. https://doi.org/10.1016/j.engstruct.2025.119700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C898D-24CA-4430-B82B-AC7E3180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4"/>
          </a:solidFill>
          <a:ln xmlns:a="http://schemas.openxmlformats.org/drawingml/2006/main" w="0">
            <a:solidFill>
              <a:srgbClr val="E9EE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325B3-4844-43D1-889C-FB35B1A8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086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Giglioni, V., Venanzi, I., Poggioni, V., Milani, A., &amp; Ubertini, F. (2023). Autoencoders for unsupervised real-time bridge health assessment. Computer-Aided Civil and Infrastructure Engineering, 38, 959–974. https://doi.org/10.1111/mice.12943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6D781-4F2D-4A1F-B776-14BB6267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4"/>
          </a:solidFill>
          <a:ln xmlns:a="http://schemas.openxmlformats.org/drawingml/2006/main" w="0">
            <a:solidFill>
              <a:srgbClr val="E9EE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420FA-0CEB-47AD-B42C-53D8846E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086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Torzoni, M., Rosafalco, L., Manzoni, A., Mariani, S., &amp; Corigliano, A. (2022). SHM under varying environmental conditions: An approach based on model order reduction and deep learning. Computers &amp; Structures, 266, 106790. https://doi.org/10.1016/j.compstruc.2022.106790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75016-C689-489C-A251-024A2CE1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4"/>
          </a:solidFill>
          <a:ln xmlns:a="http://schemas.openxmlformats.org/drawingml/2006/main" w="0">
            <a:solidFill>
              <a:srgbClr val="E9EE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74377-BFF2-49F0-A7FA-AA127411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5086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Torzoni, M., Manzoni, A., &amp; Mariani, S. (2023). A multi-fidelity surrogate model for structural health monitoring exploiting model order reduction and artificial neural networks. Mechanical Systems and Signal Processing, 197, 110376. https://doi.org/10.1016/j.ymssp.2023.110376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5768C-C7D9-437C-A476-0C9EC4F2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5314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Torzoni, M., Manzoni, A., &amp; Mariani, S. (2022). Structural health monitoring of civil structures: A diagnostic framework powered by deep metric learning. Computers &amp; Structures, 271, 106858. https://doi.org/10.1016/j.compstruc.2022.106858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5D46D-6144-49C7-9532-748D729D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9850"/>
            <a:ext cx="531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4"/>
          </a:solidFill>
          <a:ln xmlns:a="http://schemas.openxmlformats.org/drawingml/2006/main" w="0">
            <a:solidFill>
              <a:srgbClr val="E9EE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050B8-271F-44D6-BC6F-FE9F7809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5314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Kamariotis, A., Chatzi, E., &amp; Straub, D. (2022). Value of information from vibration-based structural health monitoring extracted via Bayesian model updating. Mechanical Systems and Signal Processing, 166, 108465. https://doi.org/10.1016/j.ymssp.2021.108465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4176C-2E5E-4180-915F-DCC049C3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531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4"/>
          </a:solidFill>
          <a:ln xmlns:a="http://schemas.openxmlformats.org/drawingml/2006/main" w="0">
            <a:solidFill>
              <a:srgbClr val="E9EE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1CC95-DE4C-4BFC-B11E-4025D713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10000"/>
            <a:ext cx="5314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Arcieri, G., Hoelzl, C., Schwery, O., Straub, D., Papakonstantinou, K. G., &amp; Chatzi, E. (2023). Bridging POMDPs and Bayesian decision making for robust maintenance planning under model uncertainty: An application to railway systems. Reliability Engineering &amp; System Safety, 239, 109496. https://doi.org/10.1016/j.ress.2023.109496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CFC49-2F57-463F-B7EF-1123E6C0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9650"/>
            <a:ext cx="531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4"/>
          </a:solidFill>
          <a:ln xmlns:a="http://schemas.openxmlformats.org/drawingml/2006/main" w="0">
            <a:solidFill>
              <a:srgbClr val="E9EE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C1CB6-267A-48EB-AD88-10924EB7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14900"/>
            <a:ext cx="5314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Mengel, L., Krauss, H.-W., &amp; Lowke, D. (2022). Water transport through cracked concrete structures—Effect of mixture proportion on separating crack geometry and permeability. Materials, 15, 5807. https://doi.org/10.3390/ma15175807</a:t>
            </a:r>
          </a:p>
        </p:txBody>
      </p:sp>
    </p:spTree>
    <p:extLst>
      <p:ext uri="{BB962C8B-B14F-4D97-AF65-F5344CB8AC3E}">
        <p14:creationId xmlns:p14="http://schemas.microsoft.com/office/powerpoint/2010/main" val="1706348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2026-08-26T18:17:59.5580000Z</dcterms:created>
  <dcterms:modified xsi:type="dcterms:W3CDTF">2026-08-26T18:17:59.5580000Z</dcterms:modified>
</coreProperties>
</file>