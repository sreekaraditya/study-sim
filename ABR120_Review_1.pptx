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/Users/sreekaraditya/Downloads/Project_Summary_ABR120.docx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slide structure and the current presentation sequence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/Users/sreekaraditya/Downloads/Project_Summary_ABR120.docx</a:t>
            </a:r>
          </a:p>
          <a:p>
            <a:r>
              <a:t>- User-provided team briefing document, Sections 2 and 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https://doi.org/10.1016/j.engstruct.2025.119700</a:t>
            </a:r>
          </a:p>
          <a:p>
            <a:r>
              <a:t>- https://doi.org/10.1111/mice.12943</a:t>
            </a:r>
          </a:p>
          <a:p>
            <a:r>
              <a:t>- https://doi.org/10.1016/j.compstruc.2022.106790</a:t>
            </a:r>
          </a:p>
          <a:p>
            <a:r>
              <a:t>- https://doi.org/10.1016/j.ymssp.2023.110376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https://doi.org/10.1016/j.compstruc.2022.106858</a:t>
            </a:r>
          </a:p>
          <a:p>
            <a:r>
              <a:t>- https://doi.org/10.1016/j.ymssp.2021.108465</a:t>
            </a:r>
          </a:p>
          <a:p>
            <a:r>
              <a:t>- https://doi.org/10.1016/j.ress.2023.109496</a:t>
            </a:r>
          </a:p>
          <a:p>
            <a:r>
              <a:t>- https://doi.org/10.3390/ma15175807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the gap as a synthesis of the reviewed limitations; avoid claiming that any individual component is new.</a:t>
            </a:r>
          </a:p>
          <a:p>
            <a:r>
              <a:t>[Sources]</a:t>
            </a:r>
          </a:p>
          <a:p>
            <a:r>
              <a:t>- Eight-paper review on slides 4–5</a:t>
            </a:r>
          </a:p>
          <a:p>
            <a:r>
              <a:t>- User-provided team briefing document, Sections 2, 5 and 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each objective as an input-output commitment; avoid calling unmeasured coefficients results.</a:t>
            </a:r>
          </a:p>
          <a:p>
            <a:r>
              <a:t>[Sources]</a:t>
            </a:r>
          </a:p>
          <a:p>
            <a:r>
              <a:t>- /Users/sreekaraditya/Downloads/Project_Summary_ABR120.docx</a:t>
            </a:r>
          </a:p>
          <a:p>
            <a:r>
              <a:t>- User-provided team briefing document, Sections 5, 7 and 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Emphasise that the full transport model is never used when crack geometry has not been measured.</a:t>
            </a:r>
          </a:p>
          <a:p>
            <a:r>
              <a:t>[Sources]</a:t>
            </a:r>
          </a:p>
          <a:p>
            <a:r>
              <a:t>- User-provided team briefing document, Section 6</a:t>
            </a:r>
          </a:p>
          <a:p>
            <a:r>
              <a:t>- User-provided session summary, Section 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claim quantum speedup. The contribution is the decision formulation and its exact classical benchmark.</a:t>
            </a:r>
          </a:p>
          <a:p>
            <a:r>
              <a:t>[Sources]</a:t>
            </a:r>
          </a:p>
          <a:p>
            <a:r>
              <a:t>- User-provided team briefing document, Sections 9 and 12</a:t>
            </a:r>
          </a:p>
          <a:p>
            <a:r>
              <a:t>- /Users/sreekaraditya/Desktop/Demo-Sim/results/milp_solver_summary.csv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Methodology is included to demonstrate project readiness; no physical calibration result is claimed yet.</a:t>
            </a:r>
          </a:p>
          <a:p>
            <a:r>
              <a:t>[Sources]</a:t>
            </a:r>
          </a:p>
          <a:p>
            <a:r>
              <a:t>- User-provided team briefing document, Sections 7–8</a:t>
            </a:r>
          </a:p>
          <a:p>
            <a:r>
              <a:t>- ASTM C1585/C1585M, Standard Test Method for Measurement of Rate of Absorption of Water by Hydraulic-Cement Concretes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numbers on this slide are computational evidence, not physical validation.</a:t>
            </a:r>
          </a:p>
          <a:p>
            <a:r>
              <a:t>[Sources]</a:t>
            </a:r>
          </a:p>
          <a:p>
            <a:r>
              <a:t>- /Users/sreekaraditya/Desktop/Demo-Sim/results/REPORT.md</a:t>
            </a:r>
          </a:p>
          <a:p>
            <a:r>
              <a:t>- /Users/sreekaraditya/Desktop/Demo-Sim/results/prior_comparison_summary.csv</a:t>
            </a:r>
          </a:p>
          <a:p>
            <a:r>
              <a:t>- /Users/sreekaraditya/Desktop/Demo-Sim/results/prior_plan_solver_50_seed_summary.csv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Say simulation has been run over 50 independent seeds for the prior/oracle diagnosis; separately, the general reliability protocol uses 20 seeds per configuration.</a:t>
            </a:r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sreekaraditya</a:t>
            </a:r>
            <a:r>
              <a:rPr dirty="0"/>
              <a:t>/Desktop/Demo-Sim/results/prior_plan_jaccard_50_seeds.csv</a:t>
            </a:r>
          </a:p>
          <a:p>
            <a:r>
              <a:rPr dirty="0"/>
              <a:t>- /Users/</a:t>
            </a:r>
            <a:r>
              <a:rPr dirty="0" err="1"/>
              <a:t>sreekaraditya</a:t>
            </a:r>
            <a:r>
              <a:rPr dirty="0"/>
              <a:t>/Desktop/Demo-Sim/results/</a:t>
            </a:r>
            <a:r>
              <a:rPr dirty="0" err="1"/>
              <a:t>solver_reliability_seeds.csv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sreekaraditya</a:t>
            </a:r>
            <a:r>
              <a:rPr dirty="0"/>
              <a:t>/Desktop/Demo-Sim/results/</a:t>
            </a:r>
            <a:r>
              <a:rPr dirty="0" err="1"/>
              <a:t>milp_solver_summary.csv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22574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35AFE8-BBA9-4DF9-BB0C-0C39C8EE82C6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0820400" cy="19050"/>
          </a:xfrm>
          <a:prstGeom prst="rect">
            <a:avLst/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0ECC4-1E97-4E8B-9DFE-D9D7690F3FB2}"/>
              </a:ext>
            </a:extLst>
          </p:cNvPr>
          <p:cNvSpPr>
            <a:spLocks noGrp="1"/>
          </p:cNvSpPr>
          <p:nvPr/>
        </p:nvSpPr>
        <p:spPr>
          <a:xfrm>
            <a:off x="1143000" y="253365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351" lnSpcReduction="10000"/>
          </a:bodyPr>
          <a:lstStyle/>
          <a:p>
            <a:pPr algn="ctr">
              <a:buNone/>
              <a:defRPr sz="21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Department of Civil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CD19B-31A4-4E71-A3DA-C1F656215511}"/>
              </a:ext>
            </a:extLst>
          </p:cNvPr>
          <p:cNvSpPr>
            <a:spLocks noGrp="1"/>
          </p:cNvSpPr>
          <p:nvPr/>
        </p:nvSpPr>
        <p:spPr>
          <a:xfrm>
            <a:off x="1028700" y="3048000"/>
            <a:ext cx="101346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lnSpcReduction="10000"/>
          </a:bodyPr>
          <a:lstStyle/>
          <a:p>
            <a:pPr algn="ctr">
              <a:buNone/>
              <a:defRPr sz="27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 Vibration-Driven Structural Digital Twin for</a:t>
            </a:r>
          </a:p>
          <a:p>
            <a:pPr algn="ctr">
              <a:buNone/>
              <a:defRPr sz="27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Uncertainty-Aware Retrofit Decision Making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44EC7-A63C-45C5-ACCE-DE332AA9AFC6}"/>
              </a:ext>
            </a:extLst>
          </p:cNvPr>
          <p:cNvSpPr>
            <a:spLocks noGrp="1"/>
          </p:cNvSpPr>
          <p:nvPr/>
        </p:nvSpPr>
        <p:spPr>
          <a:xfrm>
            <a:off x="4191000" y="448627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7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Batch: ABR120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890680-3613-4C10-806D-5D02F4E94420}"/>
              </a:ext>
            </a:extLst>
          </p:cNvPr>
          <p:cNvSpPr>
            <a:spLocks noGrp="1"/>
          </p:cNvSpPr>
          <p:nvPr/>
        </p:nvSpPr>
        <p:spPr>
          <a:xfrm>
            <a:off x="1257300" y="4523254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CD4F99-7406-4D8D-9EA9-3A3409DA3FED}"/>
              </a:ext>
            </a:extLst>
          </p:cNvPr>
          <p:cNvSpPr>
            <a:spLocks noGrp="1"/>
          </p:cNvSpPr>
          <p:nvPr/>
        </p:nvSpPr>
        <p:spPr>
          <a:xfrm>
            <a:off x="2381250" y="4933950"/>
            <a:ext cx="7429500" cy="9525"/>
          </a:xfrm>
          <a:prstGeom prst="rect">
            <a:avLst/>
          </a:prstGeom>
          <a:solidFill>
            <a:srgbClr val="7A7A7A"/>
          </a:solidFill>
          <a:ln w="0">
            <a:solidFill>
              <a:srgbClr val="7A7A7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349BF9-B7E3-49AA-8760-C52F18CE0C23}"/>
              </a:ext>
            </a:extLst>
          </p:cNvPr>
          <p:cNvSpPr>
            <a:spLocks noGrp="1"/>
          </p:cNvSpPr>
          <p:nvPr/>
        </p:nvSpPr>
        <p:spPr>
          <a:xfrm>
            <a:off x="2647950" y="50101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P. Sahasra Reddy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20B69-6804-48AA-9BCF-4667D43C6A5B}"/>
              </a:ext>
            </a:extLst>
          </p:cNvPr>
          <p:cNvSpPr>
            <a:spLocks noGrp="1"/>
          </p:cNvSpPr>
          <p:nvPr/>
        </p:nvSpPr>
        <p:spPr>
          <a:xfrm>
            <a:off x="6800850" y="50101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r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160123732015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1402E-E4B8-436E-A158-5E6073F650E3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9525"/>
          </a:xfrm>
          <a:prstGeom prst="rect">
            <a:avLst/>
          </a:prstGeom>
          <a:solidFill>
            <a:srgbClr val="C8C8C8"/>
          </a:solidFill>
          <a:ln w="0">
            <a:solidFill>
              <a:srgbClr val="C8C8C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0659B-302B-4EE2-AFD3-EE41D18888A1}"/>
              </a:ext>
            </a:extLst>
          </p:cNvPr>
          <p:cNvSpPr>
            <a:spLocks noGrp="1"/>
          </p:cNvSpPr>
          <p:nvPr/>
        </p:nvSpPr>
        <p:spPr>
          <a:xfrm>
            <a:off x="2647950" y="54102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M. Bhagirath Reddy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4F6B1-B21D-44F6-80EA-470FE71C940C}"/>
              </a:ext>
            </a:extLst>
          </p:cNvPr>
          <p:cNvSpPr>
            <a:spLocks noGrp="1"/>
          </p:cNvSpPr>
          <p:nvPr/>
        </p:nvSpPr>
        <p:spPr>
          <a:xfrm>
            <a:off x="6800850" y="541020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r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160123732046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96AAAC-8C9B-432F-9E02-A58989C5E76B}"/>
              </a:ext>
            </a:extLst>
          </p:cNvPr>
          <p:cNvSpPr>
            <a:spLocks noGrp="1"/>
          </p:cNvSpPr>
          <p:nvPr/>
        </p:nvSpPr>
        <p:spPr>
          <a:xfrm>
            <a:off x="2381250" y="5734050"/>
            <a:ext cx="7429500" cy="9525"/>
          </a:xfrm>
          <a:prstGeom prst="rect">
            <a:avLst/>
          </a:prstGeom>
          <a:solidFill>
            <a:srgbClr val="C8C8C8"/>
          </a:solidFill>
          <a:ln w="0">
            <a:solidFill>
              <a:srgbClr val="C8C8C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CF04A3-5CE0-4BA4-80FD-5D243519EB31}"/>
              </a:ext>
            </a:extLst>
          </p:cNvPr>
          <p:cNvSpPr>
            <a:spLocks noGrp="1"/>
          </p:cNvSpPr>
          <p:nvPr/>
        </p:nvSpPr>
        <p:spPr>
          <a:xfrm>
            <a:off x="2647950" y="58102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P. Sreekar Aditya Reddy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DD3A07-3A0C-4672-B5E6-E28187FABE9D}"/>
              </a:ext>
            </a:extLst>
          </p:cNvPr>
          <p:cNvSpPr>
            <a:spLocks noGrp="1"/>
          </p:cNvSpPr>
          <p:nvPr/>
        </p:nvSpPr>
        <p:spPr>
          <a:xfrm>
            <a:off x="6800850" y="58102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r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160123732048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03DD-74FB-4F4A-9F92-168E57EFD01B}"/>
              </a:ext>
            </a:extLst>
          </p:cNvPr>
          <p:cNvSpPr>
            <a:spLocks noGrp="1"/>
          </p:cNvSpPr>
          <p:nvPr/>
        </p:nvSpPr>
        <p:spPr>
          <a:xfrm>
            <a:off x="2381250" y="6134100"/>
            <a:ext cx="7429500" cy="9525"/>
          </a:xfrm>
          <a:prstGeom prst="rect">
            <a:avLst/>
          </a:prstGeom>
          <a:solidFill>
            <a:srgbClr val="7A7A7A"/>
          </a:solidFill>
          <a:ln w="0">
            <a:solidFill>
              <a:srgbClr val="7A7A7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1C229A-7ABA-4902-B943-134DB3FC1464}"/>
              </a:ext>
            </a:extLst>
          </p:cNvPr>
          <p:cNvSpPr>
            <a:spLocks noGrp="1"/>
          </p:cNvSpPr>
          <p:nvPr/>
        </p:nvSpPr>
        <p:spPr>
          <a:xfrm>
            <a:off x="2095500" y="6286500"/>
            <a:ext cx="800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Project Guide: Dr. A. Balaji Rao, Associate Professor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53067A-05BF-AB53-2024-74F460F76969}"/>
              </a:ext>
            </a:extLst>
          </p:cNvPr>
          <p:cNvSpPr>
            <a:spLocks noGrp="1"/>
          </p:cNvSpPr>
          <p:nvPr/>
        </p:nvSpPr>
        <p:spPr>
          <a:xfrm>
            <a:off x="4552950" y="4006120"/>
            <a:ext cx="33073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Times New Roman"/>
                <a:ea typeface="Times New Roman"/>
                <a:cs typeface="Times New Roman"/>
              </a:rPr>
              <a:t>Major Project Review 1</a:t>
            </a:r>
          </a:p>
        </p:txBody>
      </p:sp>
    </p:spTree>
    <p:extLst>
      <p:ext uri="{BB962C8B-B14F-4D97-AF65-F5344CB8AC3E}">
        <p14:creationId xmlns:p14="http://schemas.microsoft.com/office/powerpoint/2010/main" val="1168071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BFA30CC-3BCC-49FA-8E96-8A6F97385C7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F735BB-2019-40D5-9D4D-68E103F12A2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495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167"/>
          </a:bodyPr>
          <a:lstStyle/>
          <a:p>
            <a:pPr algn="l">
              <a:buNone/>
              <a:defRPr sz="33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98332D-099E-4968-8881-E3B577C28E79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9ABFE-A76B-46EC-BDD0-74E47C6AFC86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9525" cy="4191000"/>
          </a:xfrm>
          <a:prstGeom prst="rect">
            <a:avLst/>
          </a:prstGeom>
          <a:solidFill>
            <a:srgbClr val="D0D0D0"/>
          </a:solidFill>
          <a:ln w="0">
            <a:solidFill>
              <a:srgbClr val="D0D0D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023800-44FF-46AD-9108-D571F08C126A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3A15D3-58F3-49B5-9FDF-8C9F4BC3E6A5}"/>
              </a:ext>
            </a:extLst>
          </p:cNvPr>
          <p:cNvSpPr>
            <a:spLocks noGrp="1"/>
          </p:cNvSpPr>
          <p:nvPr/>
        </p:nvSpPr>
        <p:spPr>
          <a:xfrm>
            <a:off x="1314450" y="17145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73DAAE-5A2E-40B5-8BF3-C3D3B3CFB1BC}"/>
              </a:ext>
            </a:extLst>
          </p:cNvPr>
          <p:cNvSpPr>
            <a:spLocks noGrp="1"/>
          </p:cNvSpPr>
          <p:nvPr/>
        </p:nvSpPr>
        <p:spPr>
          <a:xfrm>
            <a:off x="1314450" y="21621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E4C0EE-1190-413F-858A-95947FB05CBA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4087BE-1806-4F0E-AF2F-3580111C7B7C}"/>
              </a:ext>
            </a:extLst>
          </p:cNvPr>
          <p:cNvSpPr>
            <a:spLocks noGrp="1"/>
          </p:cNvSpPr>
          <p:nvPr/>
        </p:nvSpPr>
        <p:spPr>
          <a:xfrm>
            <a:off x="1314450" y="23241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Literature Review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1EF414-B010-42E9-9D2B-487B67BE0C9A}"/>
              </a:ext>
            </a:extLst>
          </p:cNvPr>
          <p:cNvSpPr>
            <a:spLocks noGrp="1"/>
          </p:cNvSpPr>
          <p:nvPr/>
        </p:nvSpPr>
        <p:spPr>
          <a:xfrm>
            <a:off x="1314450" y="27717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92E17B-C649-4186-84EC-25A5DAF8CE45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F25EFD-C53C-4C96-A4F6-26CD5F94FAE9}"/>
              </a:ext>
            </a:extLst>
          </p:cNvPr>
          <p:cNvSpPr>
            <a:spLocks noGrp="1"/>
          </p:cNvSpPr>
          <p:nvPr/>
        </p:nvSpPr>
        <p:spPr>
          <a:xfrm>
            <a:off x="1314450" y="29337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Literature Review(Continued)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E0A723-3FF3-4E9B-B0AE-76C7C14CA8F7}"/>
              </a:ext>
            </a:extLst>
          </p:cNvPr>
          <p:cNvSpPr>
            <a:spLocks noGrp="1"/>
          </p:cNvSpPr>
          <p:nvPr/>
        </p:nvSpPr>
        <p:spPr>
          <a:xfrm>
            <a:off x="1314450" y="33813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CEF6FB-8F1B-42A6-A031-06DAA188DBB7}"/>
              </a:ext>
            </a:extLst>
          </p:cNvPr>
          <p:cNvSpPr>
            <a:spLocks noGrp="1"/>
          </p:cNvSpPr>
          <p:nvPr/>
        </p:nvSpPr>
        <p:spPr>
          <a:xfrm>
            <a:off x="781050" y="35433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3AE558-2F29-4BDE-B7D3-98C1F20B4C18}"/>
              </a:ext>
            </a:extLst>
          </p:cNvPr>
          <p:cNvSpPr>
            <a:spLocks noGrp="1"/>
          </p:cNvSpPr>
          <p:nvPr/>
        </p:nvSpPr>
        <p:spPr>
          <a:xfrm>
            <a:off x="1314450" y="35433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Research Gap Identification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AA1E49-250B-46E2-B893-A352FC6F779F}"/>
              </a:ext>
            </a:extLst>
          </p:cNvPr>
          <p:cNvSpPr>
            <a:spLocks noGrp="1"/>
          </p:cNvSpPr>
          <p:nvPr/>
        </p:nvSpPr>
        <p:spPr>
          <a:xfrm>
            <a:off x="1314450" y="39909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A9221D-DF92-4C6C-A422-4DE1D40DA91E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D8E2A2-8AD4-48EF-A957-6C10ECF9376A}"/>
              </a:ext>
            </a:extLst>
          </p:cNvPr>
          <p:cNvSpPr>
            <a:spLocks noGrp="1"/>
          </p:cNvSpPr>
          <p:nvPr/>
        </p:nvSpPr>
        <p:spPr>
          <a:xfrm>
            <a:off x="1314450" y="41529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Aim and Objectives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93D09F-579F-478E-B388-100791A83C95}"/>
              </a:ext>
            </a:extLst>
          </p:cNvPr>
          <p:cNvSpPr>
            <a:spLocks noGrp="1"/>
          </p:cNvSpPr>
          <p:nvPr/>
        </p:nvSpPr>
        <p:spPr>
          <a:xfrm>
            <a:off x="1314450" y="46005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846FF8-05CF-4621-BCEA-07522A82BE14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B2B2D2-4717-444D-B263-1D7AF60E9DFD}"/>
              </a:ext>
            </a:extLst>
          </p:cNvPr>
          <p:cNvSpPr>
            <a:spLocks noGrp="1"/>
          </p:cNvSpPr>
          <p:nvPr/>
        </p:nvSpPr>
        <p:spPr>
          <a:xfrm>
            <a:off x="1314450" y="47625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Architecture — Chain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3740D4-340F-4E45-BD54-945FD7257F33}"/>
              </a:ext>
            </a:extLst>
          </p:cNvPr>
          <p:cNvSpPr>
            <a:spLocks noGrp="1"/>
          </p:cNvSpPr>
          <p:nvPr/>
        </p:nvSpPr>
        <p:spPr>
          <a:xfrm>
            <a:off x="1314450" y="52101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B75DD6-8AEF-460C-A542-49BA6504DC9B}"/>
              </a:ext>
            </a:extLst>
          </p:cNvPr>
          <p:cNvSpPr>
            <a:spLocks noGrp="1"/>
          </p:cNvSpPr>
          <p:nvPr/>
        </p:nvSpPr>
        <p:spPr>
          <a:xfrm>
            <a:off x="781050" y="53721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18B424-47CA-4DF0-B1E5-B16E294570E0}"/>
              </a:ext>
            </a:extLst>
          </p:cNvPr>
          <p:cNvSpPr>
            <a:spLocks noGrp="1"/>
          </p:cNvSpPr>
          <p:nvPr/>
        </p:nvSpPr>
        <p:spPr>
          <a:xfrm>
            <a:off x="1314450" y="53721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Two-Tier State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3DA623-9854-4261-8184-3AC92C995338}"/>
              </a:ext>
            </a:extLst>
          </p:cNvPr>
          <p:cNvSpPr>
            <a:spLocks noGrp="1"/>
          </p:cNvSpPr>
          <p:nvPr/>
        </p:nvSpPr>
        <p:spPr>
          <a:xfrm>
            <a:off x="1314450" y="58197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BE9454-073F-40C1-9DB5-3F51288093EA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485003-DC2B-4F7D-85EB-DFF01B7A8144}"/>
              </a:ext>
            </a:extLst>
          </p:cNvPr>
          <p:cNvSpPr>
            <a:spLocks noGrp="1"/>
          </p:cNvSpPr>
          <p:nvPr/>
        </p:nvSpPr>
        <p:spPr>
          <a:xfrm>
            <a:off x="6991350" y="17145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Decision Layer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B56F43-DAD8-44EE-B950-C5244F8D3437}"/>
              </a:ext>
            </a:extLst>
          </p:cNvPr>
          <p:cNvSpPr>
            <a:spLocks noGrp="1"/>
          </p:cNvSpPr>
          <p:nvPr/>
        </p:nvSpPr>
        <p:spPr>
          <a:xfrm>
            <a:off x="6991350" y="21621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E56649-2610-4FAB-BA9B-EF1FA9C71C5A}"/>
              </a:ext>
            </a:extLst>
          </p:cNvPr>
          <p:cNvSpPr>
            <a:spLocks noGrp="1"/>
          </p:cNvSpPr>
          <p:nvPr/>
        </p:nvSpPr>
        <p:spPr>
          <a:xfrm>
            <a:off x="6457950" y="23241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79B729-8A10-4152-8C57-0E92F645CFD9}"/>
              </a:ext>
            </a:extLst>
          </p:cNvPr>
          <p:cNvSpPr>
            <a:spLocks noGrp="1"/>
          </p:cNvSpPr>
          <p:nvPr/>
        </p:nvSpPr>
        <p:spPr>
          <a:xfrm>
            <a:off x="6991350" y="23241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Experimental Campaign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3168CB-EECE-4AD2-9B2D-B61E6DBE6283}"/>
              </a:ext>
            </a:extLst>
          </p:cNvPr>
          <p:cNvSpPr>
            <a:spLocks noGrp="1"/>
          </p:cNvSpPr>
          <p:nvPr/>
        </p:nvSpPr>
        <p:spPr>
          <a:xfrm>
            <a:off x="6991350" y="27717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99D978-44B2-4204-AE00-8AB1A0F0783B}"/>
              </a:ext>
            </a:extLst>
          </p:cNvPr>
          <p:cNvSpPr>
            <a:spLocks noGrp="1"/>
          </p:cNvSpPr>
          <p:nvPr/>
        </p:nvSpPr>
        <p:spPr>
          <a:xfrm>
            <a:off x="6372225" y="2946245"/>
            <a:ext cx="61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E310D9-BCC9-4AA1-93DC-5EBF19C1658B}"/>
              </a:ext>
            </a:extLst>
          </p:cNvPr>
          <p:cNvSpPr>
            <a:spLocks noGrp="1"/>
          </p:cNvSpPr>
          <p:nvPr/>
        </p:nvSpPr>
        <p:spPr>
          <a:xfrm>
            <a:off x="6991350" y="29337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Summary of Findings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C963CA-4929-4D95-A324-1528A8DB4408}"/>
              </a:ext>
            </a:extLst>
          </p:cNvPr>
          <p:cNvSpPr>
            <a:spLocks noGrp="1"/>
          </p:cNvSpPr>
          <p:nvPr/>
        </p:nvSpPr>
        <p:spPr>
          <a:xfrm>
            <a:off x="6991350" y="33813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04643D-39E3-419A-BC45-72B09BE6D636}"/>
              </a:ext>
            </a:extLst>
          </p:cNvPr>
          <p:cNvSpPr>
            <a:spLocks noGrp="1"/>
          </p:cNvSpPr>
          <p:nvPr/>
        </p:nvSpPr>
        <p:spPr>
          <a:xfrm>
            <a:off x="6372225" y="3543300"/>
            <a:ext cx="542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2EDCE8-04EE-4EA2-AC17-5719509F8D13}"/>
              </a:ext>
            </a:extLst>
          </p:cNvPr>
          <p:cNvSpPr>
            <a:spLocks noGrp="1"/>
          </p:cNvSpPr>
          <p:nvPr/>
        </p:nvSpPr>
        <p:spPr>
          <a:xfrm>
            <a:off x="6991350" y="35433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Work Done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753324-DC5B-434C-99A4-3E4C1F6708A8}"/>
              </a:ext>
            </a:extLst>
          </p:cNvPr>
          <p:cNvSpPr>
            <a:spLocks noGrp="1"/>
          </p:cNvSpPr>
          <p:nvPr/>
        </p:nvSpPr>
        <p:spPr>
          <a:xfrm>
            <a:off x="6991350" y="39909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27BDBE-536B-4076-BD12-AA97EFE053BE}"/>
              </a:ext>
            </a:extLst>
          </p:cNvPr>
          <p:cNvSpPr>
            <a:spLocks noGrp="1"/>
          </p:cNvSpPr>
          <p:nvPr/>
        </p:nvSpPr>
        <p:spPr>
          <a:xfrm>
            <a:off x="6372225" y="4152900"/>
            <a:ext cx="542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1A6FDB-59C1-4EDC-B76B-680A554E3853}"/>
              </a:ext>
            </a:extLst>
          </p:cNvPr>
          <p:cNvSpPr>
            <a:spLocks noGrp="1"/>
          </p:cNvSpPr>
          <p:nvPr/>
        </p:nvSpPr>
        <p:spPr>
          <a:xfrm>
            <a:off x="6991350" y="41529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Work Remaining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4BB437-4EC7-479C-815E-87031E62D790}"/>
              </a:ext>
            </a:extLst>
          </p:cNvPr>
          <p:cNvSpPr>
            <a:spLocks noGrp="1"/>
          </p:cNvSpPr>
          <p:nvPr/>
        </p:nvSpPr>
        <p:spPr>
          <a:xfrm>
            <a:off x="6991350" y="46005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030001D-5583-4F25-9A6B-B85F58F83EA7}"/>
              </a:ext>
            </a:extLst>
          </p:cNvPr>
          <p:cNvSpPr>
            <a:spLocks noGrp="1"/>
          </p:cNvSpPr>
          <p:nvPr/>
        </p:nvSpPr>
        <p:spPr>
          <a:xfrm>
            <a:off x="6372225" y="4762500"/>
            <a:ext cx="542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19E521-8E4A-4753-A2AB-F03162DDC116}"/>
              </a:ext>
            </a:extLst>
          </p:cNvPr>
          <p:cNvSpPr>
            <a:spLocks noGrp="1"/>
          </p:cNvSpPr>
          <p:nvPr/>
        </p:nvSpPr>
        <p:spPr>
          <a:xfrm>
            <a:off x="6991350" y="47625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Roadmap &amp; Timeline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8B8A3A-1574-49F0-8A60-52F185D032B6}"/>
              </a:ext>
            </a:extLst>
          </p:cNvPr>
          <p:cNvSpPr>
            <a:spLocks noGrp="1"/>
          </p:cNvSpPr>
          <p:nvPr/>
        </p:nvSpPr>
        <p:spPr>
          <a:xfrm>
            <a:off x="6991350" y="52101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A3D9B0-773B-42D1-BF4F-ABABB6686895}"/>
              </a:ext>
            </a:extLst>
          </p:cNvPr>
          <p:cNvSpPr>
            <a:spLocks noGrp="1"/>
          </p:cNvSpPr>
          <p:nvPr/>
        </p:nvSpPr>
        <p:spPr>
          <a:xfrm>
            <a:off x="6372225" y="5372100"/>
            <a:ext cx="542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2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05EE28-2D16-47C8-BA60-E25C1AF7BAFE}"/>
              </a:ext>
            </a:extLst>
          </p:cNvPr>
          <p:cNvSpPr>
            <a:spLocks noGrp="1"/>
          </p:cNvSpPr>
          <p:nvPr/>
        </p:nvSpPr>
        <p:spPr>
          <a:xfrm>
            <a:off x="6991350" y="5372100"/>
            <a:ext cx="462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151A304-EFCA-48B6-8C9F-3C123815E6D1}"/>
              </a:ext>
            </a:extLst>
          </p:cNvPr>
          <p:cNvSpPr>
            <a:spLocks noGrp="1"/>
          </p:cNvSpPr>
          <p:nvPr/>
        </p:nvSpPr>
        <p:spPr>
          <a:xfrm>
            <a:off x="6991350" y="5819775"/>
            <a:ext cx="4495800" cy="9525"/>
          </a:xfrm>
          <a:prstGeom prst="rect">
            <a:avLst/>
          </a:prstGeom>
          <a:solidFill>
            <a:srgbClr val="E0E0E0"/>
          </a:solidFill>
          <a:ln w="0">
            <a:solidFill>
              <a:srgbClr val="E0E0E0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A3CF0E-AAA8-4661-9BE4-62F7C3B14C70}"/>
              </a:ext>
            </a:extLst>
          </p:cNvPr>
          <p:cNvSpPr>
            <a:spLocks noGrp="1"/>
          </p:cNvSpPr>
          <p:nvPr/>
        </p:nvSpPr>
        <p:spPr>
          <a:xfrm>
            <a:off x="10939346" y="6257925"/>
            <a:ext cx="643054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r">
              <a:buNone/>
              <a:defRPr sz="9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432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7EAA2C9-C65E-4B7D-A317-B94A4737E4D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F9BAE0-7BD9-41C8-88FB-4E74553EC3E1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9194A7-78C9-442A-A30B-F99F5914B17D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22622-702D-431A-A367-DB4266E3AD0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EDE309-522C-4B65-AF7E-2AA2AAED1E66}"/>
              </a:ext>
            </a:extLst>
          </p:cNvPr>
          <p:cNvSpPr>
            <a:spLocks noGrp="1"/>
          </p:cNvSpPr>
          <p:nvPr/>
        </p:nvSpPr>
        <p:spPr>
          <a:xfrm>
            <a:off x="1181100" y="1371600"/>
            <a:ext cx="10172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Reinforced-concrete structures deteriorate through changes in load-bearing stiffness and in the condition of the concrete cover.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A9BEF-7735-4F8E-960C-29B44BF67972}"/>
              </a:ext>
            </a:extLst>
          </p:cNvPr>
          <p:cNvSpPr>
            <a:spLocks noGrp="1"/>
          </p:cNvSpPr>
          <p:nvPr/>
        </p:nvSpPr>
        <p:spPr>
          <a:xfrm>
            <a:off x="1181100" y="2057400"/>
            <a:ext cx="1017270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29D590-3F74-4A02-9903-F099F4D095BA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76B161-D763-41E2-ACF1-EFAA6672C213}"/>
              </a:ext>
            </a:extLst>
          </p:cNvPr>
          <p:cNvSpPr>
            <a:spLocks noGrp="1"/>
          </p:cNvSpPr>
          <p:nvPr/>
        </p:nvSpPr>
        <p:spPr>
          <a:xfrm>
            <a:off x="1181100" y="2286000"/>
            <a:ext cx="10172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Vibration measurements provide non-destructive information about structural response and member-level mechanical condition.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D7E842-E8F1-46C8-9B88-CBFD02FB2783}"/>
              </a:ext>
            </a:extLst>
          </p:cNvPr>
          <p:cNvSpPr>
            <a:spLocks noGrp="1"/>
          </p:cNvSpPr>
          <p:nvPr/>
        </p:nvSpPr>
        <p:spPr>
          <a:xfrm>
            <a:off x="1181100" y="2971800"/>
            <a:ext cx="1017270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85D987-3551-4F59-A105-647B1BBF1DC3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7F9E36-2A19-410C-8273-EE91F932549A}"/>
              </a:ext>
            </a:extLst>
          </p:cNvPr>
          <p:cNvSpPr>
            <a:spLocks noGrp="1"/>
          </p:cNvSpPr>
          <p:nvPr/>
        </p:nvSpPr>
        <p:spPr>
          <a:xfrm>
            <a:off x="1181100" y="3200400"/>
            <a:ext cx="10172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Crack width, crack orientation and water sorptivity provide complementary information about durability-related transport through concrete.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206A6E-317E-4618-8464-D8EE89D2D7F6}"/>
              </a:ext>
            </a:extLst>
          </p:cNvPr>
          <p:cNvSpPr>
            <a:spLocks noGrp="1"/>
          </p:cNvSpPr>
          <p:nvPr/>
        </p:nvSpPr>
        <p:spPr>
          <a:xfrm>
            <a:off x="1181100" y="3886200"/>
            <a:ext cx="1017270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D453C-1B1B-44D0-8936-9D897BE2A3C7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2B8677-3EE8-4F2D-AD16-96977F706CBE}"/>
              </a:ext>
            </a:extLst>
          </p:cNvPr>
          <p:cNvSpPr>
            <a:spLocks noGrp="1"/>
          </p:cNvSpPr>
          <p:nvPr/>
        </p:nvSpPr>
        <p:spPr>
          <a:xfrm>
            <a:off x="1181100" y="4114800"/>
            <a:ext cx="10172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Mechanical deterioration and cover deterioration may require different interventions, such as strengthening or cover repair.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9CF96-615B-435B-8E9B-F6C5CEE1607C}"/>
              </a:ext>
            </a:extLst>
          </p:cNvPr>
          <p:cNvSpPr>
            <a:spLocks noGrp="1"/>
          </p:cNvSpPr>
          <p:nvPr/>
        </p:nvSpPr>
        <p:spPr>
          <a:xfrm>
            <a:off x="1181100" y="4800600"/>
            <a:ext cx="1017270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FBFE8C-3AD5-45D4-A889-0CFBD05A5EC7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534ED6-BF77-4924-B860-A4BBFA8D8DDC}"/>
              </a:ext>
            </a:extLst>
          </p:cNvPr>
          <p:cNvSpPr>
            <a:spLocks noGrp="1"/>
          </p:cNvSpPr>
          <p:nvPr/>
        </p:nvSpPr>
        <p:spPr>
          <a:xfrm>
            <a:off x="1181100" y="5029200"/>
            <a:ext cx="10172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5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The project therefore integrates sensing, uncertainty-aware state estimation, experimental calibration and constrained retrofit planning in one workflow.</a:t>
            </a:r>
          </a:p>
        </p:txBody>
      </p:sp>
    </p:spTree>
    <p:extLst>
      <p:ext uri="{BB962C8B-B14F-4D97-AF65-F5344CB8AC3E}">
        <p14:creationId xmlns:p14="http://schemas.microsoft.com/office/powerpoint/2010/main" val="193785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1BFE8B3-1F7F-4D77-8A67-C13034D61582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Literature</a:t>
            </a: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5A0744-5991-427D-9AC6-84AC083D9B61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97C08B-617E-4520-A7B3-CDE4EA9E6398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DA0B1B-2029-4353-928D-0D9BFA0AA7E4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0F9C98-FF8E-48E7-B564-423CC0443E04}"/>
              </a:ext>
            </a:extLst>
          </p:cNvPr>
          <p:cNvSpPr>
            <a:spLocks noGrp="1"/>
          </p:cNvSpPr>
          <p:nvPr/>
        </p:nvSpPr>
        <p:spPr>
          <a:xfrm>
            <a:off x="419100" y="1504569"/>
            <a:ext cx="2524125" cy="600456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E5BE4-7215-4DB8-9C9A-D91C01648AD7}"/>
              </a:ext>
            </a:extLst>
          </p:cNvPr>
          <p:cNvSpPr>
            <a:spLocks noGrp="1"/>
          </p:cNvSpPr>
          <p:nvPr/>
        </p:nvSpPr>
        <p:spPr>
          <a:xfrm>
            <a:off x="495300" y="1501117"/>
            <a:ext cx="2371725" cy="317868"/>
          </a:xfrm>
          <a:prstGeom prst="rect">
            <a:avLst/>
          </a:prstGeom>
          <a:solidFill>
            <a:srgbClr val="DDEAF8"/>
          </a:solidFill>
          <a:ln w="0">
            <a:noFill/>
            <a:prstDash val="solid"/>
          </a:ln>
        </p:spPr>
        <p:txBody>
          <a:bodyPr anchor="ctr">
            <a:normAutofit fontScale="99050"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C1B671-7962-4D68-8F08-F0CA300DE825}"/>
              </a:ext>
            </a:extLst>
          </p:cNvPr>
          <p:cNvSpPr>
            <a:spLocks noGrp="1"/>
          </p:cNvSpPr>
          <p:nvPr/>
        </p:nvSpPr>
        <p:spPr>
          <a:xfrm>
            <a:off x="2943225" y="1416352"/>
            <a:ext cx="1066800" cy="487398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EB840-A605-4318-B788-8F35BD9D6BC9}"/>
              </a:ext>
            </a:extLst>
          </p:cNvPr>
          <p:cNvSpPr>
            <a:spLocks noGrp="1"/>
          </p:cNvSpPr>
          <p:nvPr/>
        </p:nvSpPr>
        <p:spPr>
          <a:xfrm>
            <a:off x="3019425" y="1501117"/>
            <a:ext cx="914400" cy="31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00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Author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45BB56-8C08-4915-8A88-979433682F0A}"/>
              </a:ext>
            </a:extLst>
          </p:cNvPr>
          <p:cNvSpPr>
            <a:spLocks noGrp="1"/>
          </p:cNvSpPr>
          <p:nvPr/>
        </p:nvSpPr>
        <p:spPr>
          <a:xfrm>
            <a:off x="4010025" y="1416352"/>
            <a:ext cx="781050" cy="487398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3ED44F-8F0D-4E10-B97D-915FC95C3A6F}"/>
              </a:ext>
            </a:extLst>
          </p:cNvPr>
          <p:cNvSpPr>
            <a:spLocks noGrp="1"/>
          </p:cNvSpPr>
          <p:nvPr/>
        </p:nvSpPr>
        <p:spPr>
          <a:xfrm>
            <a:off x="4086225" y="1501117"/>
            <a:ext cx="628650" cy="31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452" lnSpcReduction="1000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Year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385595-962A-4307-994E-74899BF0C1EC}"/>
              </a:ext>
            </a:extLst>
          </p:cNvPr>
          <p:cNvSpPr>
            <a:spLocks noGrp="1"/>
          </p:cNvSpPr>
          <p:nvPr/>
        </p:nvSpPr>
        <p:spPr>
          <a:xfrm>
            <a:off x="4695825" y="1416352"/>
            <a:ext cx="1571625" cy="487398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C18790-68C5-4CB5-A47B-5A69B7EFCD5B}"/>
              </a:ext>
            </a:extLst>
          </p:cNvPr>
          <p:cNvSpPr>
            <a:spLocks noGrp="1"/>
          </p:cNvSpPr>
          <p:nvPr/>
        </p:nvSpPr>
        <p:spPr>
          <a:xfrm>
            <a:off x="4772025" y="1501117"/>
            <a:ext cx="1419225" cy="31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147" lnSpcReduction="2000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Journal · publisher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021E88-0F29-4A47-8756-40DEDDF2B5CC}"/>
              </a:ext>
            </a:extLst>
          </p:cNvPr>
          <p:cNvSpPr>
            <a:spLocks noGrp="1"/>
          </p:cNvSpPr>
          <p:nvPr/>
        </p:nvSpPr>
        <p:spPr>
          <a:xfrm>
            <a:off x="6267450" y="1416352"/>
            <a:ext cx="2714625" cy="487398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D5F0EC-A3FE-43D2-BA5F-12C7EF4FDCB0}"/>
              </a:ext>
            </a:extLst>
          </p:cNvPr>
          <p:cNvSpPr>
            <a:spLocks noGrp="1"/>
          </p:cNvSpPr>
          <p:nvPr/>
        </p:nvSpPr>
        <p:spPr>
          <a:xfrm>
            <a:off x="6343650" y="1501117"/>
            <a:ext cx="2562225" cy="31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3142" lnSpcReduction="1000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Methodology · inputs → outputs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F64767-C50C-4C0B-8053-AA88E164BA7E}"/>
              </a:ext>
            </a:extLst>
          </p:cNvPr>
          <p:cNvSpPr>
            <a:spLocks noGrp="1"/>
          </p:cNvSpPr>
          <p:nvPr/>
        </p:nvSpPr>
        <p:spPr>
          <a:xfrm>
            <a:off x="8982075" y="1416352"/>
            <a:ext cx="2790825" cy="487398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F4F233-BFF3-4A6F-9508-8DBE6999A941}"/>
              </a:ext>
            </a:extLst>
          </p:cNvPr>
          <p:cNvSpPr>
            <a:spLocks noGrp="1"/>
          </p:cNvSpPr>
          <p:nvPr/>
        </p:nvSpPr>
        <p:spPr>
          <a:xfrm>
            <a:off x="9058275" y="1501117"/>
            <a:ext cx="2638425" cy="31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00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Key finding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C0EA46-4A1E-4E7B-8353-696BFAFE6BB1}"/>
              </a:ext>
            </a:extLst>
          </p:cNvPr>
          <p:cNvSpPr>
            <a:spLocks noGrp="1"/>
          </p:cNvSpPr>
          <p:nvPr/>
        </p:nvSpPr>
        <p:spPr>
          <a:xfrm>
            <a:off x="419100" y="1903750"/>
            <a:ext cx="25241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BC5A5D-2A48-43D6-8B02-02A85D63715A}"/>
              </a:ext>
            </a:extLst>
          </p:cNvPr>
          <p:cNvSpPr>
            <a:spLocks noGrp="1"/>
          </p:cNvSpPr>
          <p:nvPr/>
        </p:nvSpPr>
        <p:spPr>
          <a:xfrm>
            <a:off x="495300" y="1988515"/>
            <a:ext cx="23717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Damage detection under environmental and operational variability using cointegration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1A813C-8F4C-4EEB-8044-03E5842395C3}"/>
              </a:ext>
            </a:extLst>
          </p:cNvPr>
          <p:cNvSpPr>
            <a:spLocks noGrp="1"/>
          </p:cNvSpPr>
          <p:nvPr/>
        </p:nvSpPr>
        <p:spPr>
          <a:xfrm>
            <a:off x="2943225" y="1903750"/>
            <a:ext cx="1066800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20CB23-D2BD-47C6-B908-6CB58B0809DD}"/>
              </a:ext>
            </a:extLst>
          </p:cNvPr>
          <p:cNvSpPr>
            <a:spLocks noGrp="1"/>
          </p:cNvSpPr>
          <p:nvPr/>
        </p:nvSpPr>
        <p:spPr>
          <a:xfrm>
            <a:off x="3019425" y="1988515"/>
            <a:ext cx="91440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Pirrò et 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BE9BCF-D840-4E1B-AC29-0F0DDCACCB73}"/>
              </a:ext>
            </a:extLst>
          </p:cNvPr>
          <p:cNvSpPr>
            <a:spLocks noGrp="1"/>
          </p:cNvSpPr>
          <p:nvPr/>
        </p:nvSpPr>
        <p:spPr>
          <a:xfrm>
            <a:off x="4010025" y="1903750"/>
            <a:ext cx="781050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1C7D70-BE00-4438-8C5E-C442A733D32A}"/>
              </a:ext>
            </a:extLst>
          </p:cNvPr>
          <p:cNvSpPr>
            <a:spLocks noGrp="1"/>
          </p:cNvSpPr>
          <p:nvPr/>
        </p:nvSpPr>
        <p:spPr>
          <a:xfrm>
            <a:off x="4086225" y="1988515"/>
            <a:ext cx="62865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98399B-6C16-483A-BBCA-AF2F26B1F06D}"/>
              </a:ext>
            </a:extLst>
          </p:cNvPr>
          <p:cNvSpPr>
            <a:spLocks noGrp="1"/>
          </p:cNvSpPr>
          <p:nvPr/>
        </p:nvSpPr>
        <p:spPr>
          <a:xfrm>
            <a:off x="4695825" y="1903750"/>
            <a:ext cx="15716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BC5DE0-C1AA-448A-8665-CB7D9BB6E0FA}"/>
              </a:ext>
            </a:extLst>
          </p:cNvPr>
          <p:cNvSpPr>
            <a:spLocks noGrp="1"/>
          </p:cNvSpPr>
          <p:nvPr/>
        </p:nvSpPr>
        <p:spPr>
          <a:xfrm>
            <a:off x="4772025" y="1988515"/>
            <a:ext cx="1419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Engineering Structures</a:t>
            </a:r>
          </a:p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FB0810-AEA0-4944-92FC-02CB65456D66}"/>
              </a:ext>
            </a:extLst>
          </p:cNvPr>
          <p:cNvSpPr>
            <a:spLocks noGrp="1"/>
          </p:cNvSpPr>
          <p:nvPr/>
        </p:nvSpPr>
        <p:spPr>
          <a:xfrm>
            <a:off x="6267450" y="1903750"/>
            <a:ext cx="27146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C506C6-2797-4A88-9991-7641200E01D2}"/>
              </a:ext>
            </a:extLst>
          </p:cNvPr>
          <p:cNvSpPr>
            <a:spLocks noGrp="1"/>
          </p:cNvSpPr>
          <p:nvPr/>
        </p:nvSpPr>
        <p:spPr>
          <a:xfrm>
            <a:off x="6343650" y="1988515"/>
            <a:ext cx="2562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31,326 vibration datasets + temperature/water level + FE damage → EOV-normalised novelty indicators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D3FD7E-CE4E-4F10-A14C-311DE0AB6769}"/>
              </a:ext>
            </a:extLst>
          </p:cNvPr>
          <p:cNvSpPr>
            <a:spLocks noGrp="1"/>
          </p:cNvSpPr>
          <p:nvPr/>
        </p:nvSpPr>
        <p:spPr>
          <a:xfrm>
            <a:off x="8982075" y="1903750"/>
            <a:ext cx="27908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D7B531-6851-4083-B97C-1F95CCCE2823}"/>
              </a:ext>
            </a:extLst>
          </p:cNvPr>
          <p:cNvSpPr>
            <a:spLocks noGrp="1"/>
          </p:cNvSpPr>
          <p:nvPr/>
        </p:nvSpPr>
        <p:spPr>
          <a:xfrm>
            <a:off x="9058275" y="1988515"/>
            <a:ext cx="26384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Cointegration separated environmental variation using about 6 months of training; PCA required about 12 months.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3C3D51-BFDC-4813-8D17-C7C58CB94BB9}"/>
              </a:ext>
            </a:extLst>
          </p:cNvPr>
          <p:cNvSpPr>
            <a:spLocks noGrp="1"/>
          </p:cNvSpPr>
          <p:nvPr/>
        </p:nvSpPr>
        <p:spPr>
          <a:xfrm>
            <a:off x="419100" y="3016289"/>
            <a:ext cx="25241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A09898-EBBD-44E4-A000-9FF309941525}"/>
              </a:ext>
            </a:extLst>
          </p:cNvPr>
          <p:cNvSpPr>
            <a:spLocks noGrp="1"/>
          </p:cNvSpPr>
          <p:nvPr/>
        </p:nvSpPr>
        <p:spPr>
          <a:xfrm>
            <a:off x="495300" y="3101054"/>
            <a:ext cx="23717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Autoencoders for unsupervised real-time bridge health assessment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F20EDF-6785-47CB-AC4F-0A0475893312}"/>
              </a:ext>
            </a:extLst>
          </p:cNvPr>
          <p:cNvSpPr>
            <a:spLocks noGrp="1"/>
          </p:cNvSpPr>
          <p:nvPr/>
        </p:nvSpPr>
        <p:spPr>
          <a:xfrm>
            <a:off x="2943225" y="3016289"/>
            <a:ext cx="1066800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8D4CAE-F84C-4541-BCD0-0000A4DFBE7A}"/>
              </a:ext>
            </a:extLst>
          </p:cNvPr>
          <p:cNvSpPr>
            <a:spLocks noGrp="1"/>
          </p:cNvSpPr>
          <p:nvPr/>
        </p:nvSpPr>
        <p:spPr>
          <a:xfrm>
            <a:off x="3019425" y="3101054"/>
            <a:ext cx="91440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Giglioni et al.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348325-591B-4D72-B720-286713322C5A}"/>
              </a:ext>
            </a:extLst>
          </p:cNvPr>
          <p:cNvSpPr>
            <a:spLocks noGrp="1"/>
          </p:cNvSpPr>
          <p:nvPr/>
        </p:nvSpPr>
        <p:spPr>
          <a:xfrm>
            <a:off x="4010025" y="3016289"/>
            <a:ext cx="781050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3BFB685-51F2-46D5-BE1A-5627A38005A6}"/>
              </a:ext>
            </a:extLst>
          </p:cNvPr>
          <p:cNvSpPr>
            <a:spLocks noGrp="1"/>
          </p:cNvSpPr>
          <p:nvPr/>
        </p:nvSpPr>
        <p:spPr>
          <a:xfrm>
            <a:off x="4086225" y="3101054"/>
            <a:ext cx="62865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4827A2-93DE-4657-9DE6-C19A3F0421A0}"/>
              </a:ext>
            </a:extLst>
          </p:cNvPr>
          <p:cNvSpPr>
            <a:spLocks noGrp="1"/>
          </p:cNvSpPr>
          <p:nvPr/>
        </p:nvSpPr>
        <p:spPr>
          <a:xfrm>
            <a:off x="4695825" y="3016289"/>
            <a:ext cx="15716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34A5EB-6EAB-4DF4-9227-0DB28644CF4F}"/>
              </a:ext>
            </a:extLst>
          </p:cNvPr>
          <p:cNvSpPr>
            <a:spLocks noGrp="1"/>
          </p:cNvSpPr>
          <p:nvPr/>
        </p:nvSpPr>
        <p:spPr>
          <a:xfrm>
            <a:off x="4772025" y="3101054"/>
            <a:ext cx="1419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900" lnSpcReduction="2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Computer-Aided Civil and Infrastructure Engineering</a:t>
            </a:r>
          </a:p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Wiley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18557C-C860-4E71-98A7-29ADF4742928}"/>
              </a:ext>
            </a:extLst>
          </p:cNvPr>
          <p:cNvSpPr>
            <a:spLocks noGrp="1"/>
          </p:cNvSpPr>
          <p:nvPr/>
        </p:nvSpPr>
        <p:spPr>
          <a:xfrm>
            <a:off x="6267450" y="3016289"/>
            <a:ext cx="27146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E40A1A-3241-424F-AA89-DAC56263A608}"/>
              </a:ext>
            </a:extLst>
          </p:cNvPr>
          <p:cNvSpPr>
            <a:spLocks noGrp="1"/>
          </p:cNvSpPr>
          <p:nvPr/>
        </p:nvSpPr>
        <p:spPr>
          <a:xfrm>
            <a:off x="6343650" y="3101054"/>
            <a:ext cx="2562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Healthy raw acceleration sequences → autoencoder reconstruction-loss damage indicators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F26C0C-A656-40FF-836E-8155E2B91594}"/>
              </a:ext>
            </a:extLst>
          </p:cNvPr>
          <p:cNvSpPr>
            <a:spLocks noGrp="1"/>
          </p:cNvSpPr>
          <p:nvPr/>
        </p:nvSpPr>
        <p:spPr>
          <a:xfrm>
            <a:off x="8982075" y="3016289"/>
            <a:ext cx="27908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22F516-FF23-41BC-9F61-DA4F13C90E58}"/>
              </a:ext>
            </a:extLst>
          </p:cNvPr>
          <p:cNvSpPr>
            <a:spLocks noGrp="1"/>
          </p:cNvSpPr>
          <p:nvPr/>
        </p:nvSpPr>
        <p:spPr>
          <a:xfrm>
            <a:off x="9058275" y="3101054"/>
            <a:ext cx="26384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Reported up to 96% accuracy and AUC 0.99; 10 s sequences processed in under 1 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06D2D97-B7FA-4A26-8105-BC89DC100B88}"/>
              </a:ext>
            </a:extLst>
          </p:cNvPr>
          <p:cNvSpPr>
            <a:spLocks noGrp="1"/>
          </p:cNvSpPr>
          <p:nvPr/>
        </p:nvSpPr>
        <p:spPr>
          <a:xfrm>
            <a:off x="419100" y="4128828"/>
            <a:ext cx="25241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5F4F68-F486-4566-B5A2-CE218ADB8D99}"/>
              </a:ext>
            </a:extLst>
          </p:cNvPr>
          <p:cNvSpPr>
            <a:spLocks noGrp="1"/>
          </p:cNvSpPr>
          <p:nvPr/>
        </p:nvSpPr>
        <p:spPr>
          <a:xfrm>
            <a:off x="495300" y="4213593"/>
            <a:ext cx="23717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SHM under varying environmental conditions: model order reduction and deep learning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34BC434-AEDB-4162-BFD9-4204A53E43A0}"/>
              </a:ext>
            </a:extLst>
          </p:cNvPr>
          <p:cNvSpPr>
            <a:spLocks noGrp="1"/>
          </p:cNvSpPr>
          <p:nvPr/>
        </p:nvSpPr>
        <p:spPr>
          <a:xfrm>
            <a:off x="2943225" y="4128828"/>
            <a:ext cx="1066800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B903E2-182C-41FA-92C3-DDB5EAC9F623}"/>
              </a:ext>
            </a:extLst>
          </p:cNvPr>
          <p:cNvSpPr>
            <a:spLocks noGrp="1"/>
          </p:cNvSpPr>
          <p:nvPr/>
        </p:nvSpPr>
        <p:spPr>
          <a:xfrm>
            <a:off x="3019425" y="4213593"/>
            <a:ext cx="91440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Torzoni et al.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F742713-BB31-43D5-A4EA-927BA5FE8E9D}"/>
              </a:ext>
            </a:extLst>
          </p:cNvPr>
          <p:cNvSpPr>
            <a:spLocks noGrp="1"/>
          </p:cNvSpPr>
          <p:nvPr/>
        </p:nvSpPr>
        <p:spPr>
          <a:xfrm>
            <a:off x="4010025" y="4128828"/>
            <a:ext cx="781050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2CFBAB-7CE9-41FD-86B8-8321593EFE4E}"/>
              </a:ext>
            </a:extLst>
          </p:cNvPr>
          <p:cNvSpPr>
            <a:spLocks noGrp="1"/>
          </p:cNvSpPr>
          <p:nvPr/>
        </p:nvSpPr>
        <p:spPr>
          <a:xfrm>
            <a:off x="4086225" y="4213593"/>
            <a:ext cx="62865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1E425F0-BAC8-4BE8-BEBD-8FD5CED6D0D4}"/>
              </a:ext>
            </a:extLst>
          </p:cNvPr>
          <p:cNvSpPr>
            <a:spLocks noGrp="1"/>
          </p:cNvSpPr>
          <p:nvPr/>
        </p:nvSpPr>
        <p:spPr>
          <a:xfrm>
            <a:off x="4695825" y="4128828"/>
            <a:ext cx="15716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16801F-B16A-4AF9-9AFD-862EFD45D19F}"/>
              </a:ext>
            </a:extLst>
          </p:cNvPr>
          <p:cNvSpPr>
            <a:spLocks noGrp="1"/>
          </p:cNvSpPr>
          <p:nvPr/>
        </p:nvSpPr>
        <p:spPr>
          <a:xfrm>
            <a:off x="4772025" y="4213593"/>
            <a:ext cx="1419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Computers &amp; Structures</a:t>
            </a:r>
          </a:p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FCC352D-1C3C-4D2E-805E-62D8BF657770}"/>
              </a:ext>
            </a:extLst>
          </p:cNvPr>
          <p:cNvSpPr>
            <a:spLocks noGrp="1"/>
          </p:cNvSpPr>
          <p:nvPr/>
        </p:nvSpPr>
        <p:spPr>
          <a:xfrm>
            <a:off x="6267450" y="4128828"/>
            <a:ext cx="27146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3D9A968-E342-45F8-B836-CFB33E8AFFDB}"/>
              </a:ext>
            </a:extLst>
          </p:cNvPr>
          <p:cNvSpPr>
            <a:spLocks noGrp="1"/>
          </p:cNvSpPr>
          <p:nvPr/>
        </p:nvSpPr>
        <p:spPr>
          <a:xfrm>
            <a:off x="6343650" y="4213593"/>
            <a:ext cx="2562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Simulated vibration + temperature/load + stiffness loss → damage class/location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D40D0AE-9AE6-4EBB-8A85-46B9CD839544}"/>
              </a:ext>
            </a:extLst>
          </p:cNvPr>
          <p:cNvSpPr>
            <a:spLocks noGrp="1"/>
          </p:cNvSpPr>
          <p:nvPr/>
        </p:nvSpPr>
        <p:spPr>
          <a:xfrm>
            <a:off x="8982075" y="4128828"/>
            <a:ext cx="27908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D6A7A7F-269D-4AAF-9329-D7391DE87856}"/>
              </a:ext>
            </a:extLst>
          </p:cNvPr>
          <p:cNvSpPr>
            <a:spLocks noGrp="1"/>
          </p:cNvSpPr>
          <p:nvPr/>
        </p:nvSpPr>
        <p:spPr>
          <a:xfrm>
            <a:off x="9058275" y="4213593"/>
            <a:ext cx="26384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Physics-generated training data separated temperature effects from damage and located small stiffness reductions.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466D1D-CC98-491D-B261-FE05E4887F21}"/>
              </a:ext>
            </a:extLst>
          </p:cNvPr>
          <p:cNvSpPr>
            <a:spLocks noGrp="1"/>
          </p:cNvSpPr>
          <p:nvPr/>
        </p:nvSpPr>
        <p:spPr>
          <a:xfrm>
            <a:off x="419100" y="5241367"/>
            <a:ext cx="25241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78A897E-3FCF-45AA-8AE7-EAF06C073436}"/>
              </a:ext>
            </a:extLst>
          </p:cNvPr>
          <p:cNvSpPr>
            <a:spLocks noGrp="1"/>
          </p:cNvSpPr>
          <p:nvPr/>
        </p:nvSpPr>
        <p:spPr>
          <a:xfrm>
            <a:off x="495300" y="5326132"/>
            <a:ext cx="23717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Multi-fidelity surrogate model for SHM using model reduction and neural networks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90C86F0-9390-481B-99DD-A33AC7EE8981}"/>
              </a:ext>
            </a:extLst>
          </p:cNvPr>
          <p:cNvSpPr>
            <a:spLocks noGrp="1"/>
          </p:cNvSpPr>
          <p:nvPr/>
        </p:nvSpPr>
        <p:spPr>
          <a:xfrm>
            <a:off x="2943225" y="5241367"/>
            <a:ext cx="1066800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16093D8-3644-41B1-BB2A-67B597A2B504}"/>
              </a:ext>
            </a:extLst>
          </p:cNvPr>
          <p:cNvSpPr>
            <a:spLocks noGrp="1"/>
          </p:cNvSpPr>
          <p:nvPr/>
        </p:nvSpPr>
        <p:spPr>
          <a:xfrm>
            <a:off x="3019425" y="5326132"/>
            <a:ext cx="91440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Torzoni et al.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D9BF112-E8E7-47A0-BD9A-313D331545A2}"/>
              </a:ext>
            </a:extLst>
          </p:cNvPr>
          <p:cNvSpPr>
            <a:spLocks noGrp="1"/>
          </p:cNvSpPr>
          <p:nvPr/>
        </p:nvSpPr>
        <p:spPr>
          <a:xfrm>
            <a:off x="4010025" y="5241367"/>
            <a:ext cx="781050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B15FD7-4B0F-4A8B-9635-91D880740285}"/>
              </a:ext>
            </a:extLst>
          </p:cNvPr>
          <p:cNvSpPr>
            <a:spLocks noGrp="1"/>
          </p:cNvSpPr>
          <p:nvPr/>
        </p:nvSpPr>
        <p:spPr>
          <a:xfrm>
            <a:off x="4086225" y="5326132"/>
            <a:ext cx="62865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00696C9-7C5F-4B06-96E6-5EF3B077A00C}"/>
              </a:ext>
            </a:extLst>
          </p:cNvPr>
          <p:cNvSpPr>
            <a:spLocks noGrp="1"/>
          </p:cNvSpPr>
          <p:nvPr/>
        </p:nvSpPr>
        <p:spPr>
          <a:xfrm>
            <a:off x="4695825" y="5241367"/>
            <a:ext cx="15716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D2DAA1E-73C8-4865-A595-71A952A25512}"/>
              </a:ext>
            </a:extLst>
          </p:cNvPr>
          <p:cNvSpPr>
            <a:spLocks noGrp="1"/>
          </p:cNvSpPr>
          <p:nvPr/>
        </p:nvSpPr>
        <p:spPr>
          <a:xfrm>
            <a:off x="4772025" y="5326132"/>
            <a:ext cx="1419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3497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Mechanical Systems and Signal Processing</a:t>
            </a:r>
          </a:p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81DE6AE-0C87-47C8-9EF9-B7D7A1A2405D}"/>
              </a:ext>
            </a:extLst>
          </p:cNvPr>
          <p:cNvSpPr>
            <a:spLocks noGrp="1"/>
          </p:cNvSpPr>
          <p:nvPr/>
        </p:nvSpPr>
        <p:spPr>
          <a:xfrm>
            <a:off x="6267450" y="5241367"/>
            <a:ext cx="27146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A3F372B-A959-49FE-A8D4-87ED60BAEF5C}"/>
              </a:ext>
            </a:extLst>
          </p:cNvPr>
          <p:cNvSpPr>
            <a:spLocks noGrp="1"/>
          </p:cNvSpPr>
          <p:nvPr/>
        </p:nvSpPr>
        <p:spPr>
          <a:xfrm>
            <a:off x="6343650" y="5326132"/>
            <a:ext cx="2562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High-fidelity FE + low-fidelity ROM + operational noise → sensor histories and Bayesian state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814C0F8-7C6C-423B-BEC5-F7483C0D57D5}"/>
              </a:ext>
            </a:extLst>
          </p:cNvPr>
          <p:cNvSpPr>
            <a:spLocks noGrp="1"/>
          </p:cNvSpPr>
          <p:nvPr/>
        </p:nvSpPr>
        <p:spPr>
          <a:xfrm>
            <a:off x="8982075" y="5241367"/>
            <a:ext cx="27908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6F20874-9774-4B67-9C96-B41FEED6C5CF}"/>
              </a:ext>
            </a:extLst>
          </p:cNvPr>
          <p:cNvSpPr>
            <a:spLocks noGrp="1"/>
          </p:cNvSpPr>
          <p:nvPr/>
        </p:nvSpPr>
        <p:spPr>
          <a:xfrm>
            <a:off x="9058275" y="5326132"/>
            <a:ext cx="26384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07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Multi-fidelity learning improved surrogate accuracy while reducing the cost of Bayesian updating.</a:t>
            </a:r>
          </a:p>
        </p:txBody>
      </p:sp>
    </p:spTree>
    <p:extLst>
      <p:ext uri="{BB962C8B-B14F-4D97-AF65-F5344CB8AC3E}">
        <p14:creationId xmlns:p14="http://schemas.microsoft.com/office/powerpoint/2010/main" val="6016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3DF00309-D067-4116-8AF3-8D27E168368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Literature review(Continued)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6295D7-7C29-4BBF-941A-4F684A52A52D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43F70-474B-49FA-B026-30E69898EDAD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57C306-21D5-40DD-A3F9-1C354BD7A0F4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EC9A0E-E9AF-4663-BCAF-BB9BC44BDE00}"/>
              </a:ext>
            </a:extLst>
          </p:cNvPr>
          <p:cNvSpPr>
            <a:spLocks noGrp="1"/>
          </p:cNvSpPr>
          <p:nvPr/>
        </p:nvSpPr>
        <p:spPr>
          <a:xfrm>
            <a:off x="419100" y="1504569"/>
            <a:ext cx="2524125" cy="600456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452A65-B82C-4238-851F-B3672504C514}"/>
              </a:ext>
            </a:extLst>
          </p:cNvPr>
          <p:cNvSpPr>
            <a:spLocks noGrp="1"/>
          </p:cNvSpPr>
          <p:nvPr/>
        </p:nvSpPr>
        <p:spPr>
          <a:xfrm>
            <a:off x="495300" y="1501117"/>
            <a:ext cx="2371725" cy="317868"/>
          </a:xfrm>
          <a:prstGeom prst="rect">
            <a:avLst/>
          </a:prstGeom>
          <a:solidFill>
            <a:srgbClr val="DDEAF8"/>
          </a:solidFill>
          <a:ln w="0">
            <a:noFill/>
            <a:prstDash val="solid"/>
          </a:ln>
        </p:spPr>
        <p:txBody>
          <a:bodyPr anchor="ctr">
            <a:normAutofit fontScale="99050"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F8902E-B47D-49C8-BCE5-DFE301557E61}"/>
              </a:ext>
            </a:extLst>
          </p:cNvPr>
          <p:cNvSpPr>
            <a:spLocks noGrp="1"/>
          </p:cNvSpPr>
          <p:nvPr/>
        </p:nvSpPr>
        <p:spPr>
          <a:xfrm>
            <a:off x="2943225" y="1416352"/>
            <a:ext cx="1066800" cy="487398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54E816-9E88-4D96-92DE-907B39F4AE1D}"/>
              </a:ext>
            </a:extLst>
          </p:cNvPr>
          <p:cNvSpPr>
            <a:spLocks noGrp="1"/>
          </p:cNvSpPr>
          <p:nvPr/>
        </p:nvSpPr>
        <p:spPr>
          <a:xfrm>
            <a:off x="3019425" y="1501117"/>
            <a:ext cx="914400" cy="31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00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Author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6E40D0-B61A-49E2-A4A0-4CE443696EBA}"/>
              </a:ext>
            </a:extLst>
          </p:cNvPr>
          <p:cNvSpPr>
            <a:spLocks noGrp="1"/>
          </p:cNvSpPr>
          <p:nvPr/>
        </p:nvSpPr>
        <p:spPr>
          <a:xfrm>
            <a:off x="4086225" y="1416352"/>
            <a:ext cx="704850" cy="487398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E91171-0BBF-408D-8A30-264119B9444A}"/>
              </a:ext>
            </a:extLst>
          </p:cNvPr>
          <p:cNvSpPr>
            <a:spLocks noGrp="1"/>
          </p:cNvSpPr>
          <p:nvPr/>
        </p:nvSpPr>
        <p:spPr>
          <a:xfrm>
            <a:off x="4086225" y="1501117"/>
            <a:ext cx="628650" cy="31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452" lnSpcReduction="1000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Year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D2644F-C4D5-4379-B05E-3B015F1B6651}"/>
              </a:ext>
            </a:extLst>
          </p:cNvPr>
          <p:cNvSpPr>
            <a:spLocks noGrp="1"/>
          </p:cNvSpPr>
          <p:nvPr/>
        </p:nvSpPr>
        <p:spPr>
          <a:xfrm>
            <a:off x="4695825" y="1416352"/>
            <a:ext cx="1571625" cy="487398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83A1F6-6C15-425F-809D-23F21B3F9A2D}"/>
              </a:ext>
            </a:extLst>
          </p:cNvPr>
          <p:cNvSpPr>
            <a:spLocks noGrp="1"/>
          </p:cNvSpPr>
          <p:nvPr/>
        </p:nvSpPr>
        <p:spPr>
          <a:xfrm>
            <a:off x="4772025" y="1501117"/>
            <a:ext cx="1419225" cy="31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147" lnSpcReduction="2000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Journal · publisher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3BCF1A-AE27-4A56-92A0-99247F7C43A8}"/>
              </a:ext>
            </a:extLst>
          </p:cNvPr>
          <p:cNvSpPr>
            <a:spLocks noGrp="1"/>
          </p:cNvSpPr>
          <p:nvPr/>
        </p:nvSpPr>
        <p:spPr>
          <a:xfrm>
            <a:off x="6267450" y="1416352"/>
            <a:ext cx="2714625" cy="487398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D51A83-4082-4207-954E-39A7628C77B4}"/>
              </a:ext>
            </a:extLst>
          </p:cNvPr>
          <p:cNvSpPr>
            <a:spLocks noGrp="1"/>
          </p:cNvSpPr>
          <p:nvPr/>
        </p:nvSpPr>
        <p:spPr>
          <a:xfrm>
            <a:off x="6343650" y="1501117"/>
            <a:ext cx="2562225" cy="31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3142" lnSpcReduction="1000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Methodology · inputs → outputs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AD5349-776B-44A4-A997-24B56DBC000F}"/>
              </a:ext>
            </a:extLst>
          </p:cNvPr>
          <p:cNvSpPr>
            <a:spLocks noGrp="1"/>
          </p:cNvSpPr>
          <p:nvPr/>
        </p:nvSpPr>
        <p:spPr>
          <a:xfrm>
            <a:off x="8982075" y="1416352"/>
            <a:ext cx="2790825" cy="487398"/>
          </a:xfrm>
          <a:prstGeom prst="rect">
            <a:avLst/>
          </a:prstGeom>
          <a:solidFill>
            <a:srgbClr val="DDEA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D33A83-371C-4183-A26C-2007853A03B3}"/>
              </a:ext>
            </a:extLst>
          </p:cNvPr>
          <p:cNvSpPr>
            <a:spLocks noGrp="1"/>
          </p:cNvSpPr>
          <p:nvPr/>
        </p:nvSpPr>
        <p:spPr>
          <a:xfrm>
            <a:off x="9058275" y="1501117"/>
            <a:ext cx="2638425" cy="317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000"/>
          </a:bodyPr>
          <a:lstStyle/>
          <a:p>
            <a:pPr algn="l">
              <a:buNone/>
              <a:defRPr sz="11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Key finding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3560E4-B636-46D3-9543-C420E1E71544}"/>
              </a:ext>
            </a:extLst>
          </p:cNvPr>
          <p:cNvSpPr>
            <a:spLocks noGrp="1"/>
          </p:cNvSpPr>
          <p:nvPr/>
        </p:nvSpPr>
        <p:spPr>
          <a:xfrm>
            <a:off x="419100" y="1903750"/>
            <a:ext cx="25241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A33493-B8B0-4960-B187-142EAA733752}"/>
              </a:ext>
            </a:extLst>
          </p:cNvPr>
          <p:cNvSpPr>
            <a:spLocks noGrp="1"/>
          </p:cNvSpPr>
          <p:nvPr/>
        </p:nvSpPr>
        <p:spPr>
          <a:xfrm>
            <a:off x="495300" y="1988515"/>
            <a:ext cx="23717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47" lnSpcReduction="10000"/>
          </a:bodyPr>
          <a:lstStyle/>
          <a:p>
            <a:pPr algn="l">
              <a:buNone/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Structural health monitoring of civil structures powered by deep metric learning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C76A09-8346-4C91-A868-950A89DDAD56}"/>
              </a:ext>
            </a:extLst>
          </p:cNvPr>
          <p:cNvSpPr>
            <a:spLocks noGrp="1"/>
          </p:cNvSpPr>
          <p:nvPr/>
        </p:nvSpPr>
        <p:spPr>
          <a:xfrm>
            <a:off x="2943225" y="1903750"/>
            <a:ext cx="1066800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0D6173-C7F1-4955-B4E3-EAFAA1EC3282}"/>
              </a:ext>
            </a:extLst>
          </p:cNvPr>
          <p:cNvSpPr>
            <a:spLocks noGrp="1"/>
          </p:cNvSpPr>
          <p:nvPr/>
        </p:nvSpPr>
        <p:spPr>
          <a:xfrm>
            <a:off x="3019425" y="1988515"/>
            <a:ext cx="91440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875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Torzoni, Manzoni </a:t>
            </a:r>
            <a:r>
              <a:rPr sz="150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et 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2ECC77-036C-4B47-87F4-BC8E56E89EE4}"/>
              </a:ext>
            </a:extLst>
          </p:cNvPr>
          <p:cNvSpPr>
            <a:spLocks noGrp="1"/>
          </p:cNvSpPr>
          <p:nvPr/>
        </p:nvSpPr>
        <p:spPr>
          <a:xfrm>
            <a:off x="4010025" y="1903750"/>
            <a:ext cx="781050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B0638B-36D4-4DC8-A1D6-A056D77CB539}"/>
              </a:ext>
            </a:extLst>
          </p:cNvPr>
          <p:cNvSpPr>
            <a:spLocks noGrp="1"/>
          </p:cNvSpPr>
          <p:nvPr/>
        </p:nvSpPr>
        <p:spPr>
          <a:xfrm>
            <a:off x="4086225" y="1988515"/>
            <a:ext cx="62865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128174-63E9-48AF-94EE-E70821DFC148}"/>
              </a:ext>
            </a:extLst>
          </p:cNvPr>
          <p:cNvSpPr>
            <a:spLocks noGrp="1"/>
          </p:cNvSpPr>
          <p:nvPr/>
        </p:nvSpPr>
        <p:spPr>
          <a:xfrm>
            <a:off x="4695825" y="1903750"/>
            <a:ext cx="15716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0F8DE7-F8FF-400E-BD2F-AD7BBB755AD8}"/>
              </a:ext>
            </a:extLst>
          </p:cNvPr>
          <p:cNvSpPr>
            <a:spLocks noGrp="1"/>
          </p:cNvSpPr>
          <p:nvPr/>
        </p:nvSpPr>
        <p:spPr>
          <a:xfrm>
            <a:off x="4772025" y="1988515"/>
            <a:ext cx="1419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Computers &amp; Structures</a:t>
            </a:r>
          </a:p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F5B154-8275-4404-8108-340644EA5531}"/>
              </a:ext>
            </a:extLst>
          </p:cNvPr>
          <p:cNvSpPr>
            <a:spLocks noGrp="1"/>
          </p:cNvSpPr>
          <p:nvPr/>
        </p:nvSpPr>
        <p:spPr>
          <a:xfrm>
            <a:off x="6267450" y="1903750"/>
            <a:ext cx="27146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17FA41-4EF5-464A-B245-3B3424425222}"/>
              </a:ext>
            </a:extLst>
          </p:cNvPr>
          <p:cNvSpPr>
            <a:spLocks noGrp="1"/>
          </p:cNvSpPr>
          <p:nvPr/>
        </p:nvSpPr>
        <p:spPr>
          <a:xfrm>
            <a:off x="6343650" y="1988515"/>
            <a:ext cx="2562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47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Physics-generated vibration under varied damage positions → low-dimensional metric features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2F8F7A-5C95-41D4-9EBD-907B0D231586}"/>
              </a:ext>
            </a:extLst>
          </p:cNvPr>
          <p:cNvSpPr>
            <a:spLocks noGrp="1"/>
          </p:cNvSpPr>
          <p:nvPr/>
        </p:nvSpPr>
        <p:spPr>
          <a:xfrm>
            <a:off x="8982075" y="1903750"/>
            <a:ext cx="27908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F33036-3165-4B23-99D8-9C6EA4D83CA7}"/>
              </a:ext>
            </a:extLst>
          </p:cNvPr>
          <p:cNvSpPr>
            <a:spLocks noGrp="1"/>
          </p:cNvSpPr>
          <p:nvPr/>
        </p:nvSpPr>
        <p:spPr>
          <a:xfrm>
            <a:off x="9058275" y="1988515"/>
            <a:ext cx="26384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Damage localisation remained robust to operational variation, measurement noise and model inaccuracies.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78F238-D70C-4627-85A5-A69D3FD29629}"/>
              </a:ext>
            </a:extLst>
          </p:cNvPr>
          <p:cNvSpPr>
            <a:spLocks noGrp="1"/>
          </p:cNvSpPr>
          <p:nvPr/>
        </p:nvSpPr>
        <p:spPr>
          <a:xfrm>
            <a:off x="419100" y="3016289"/>
            <a:ext cx="25241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A84E81-5AB2-47E9-8526-A4CC66D122E1}"/>
              </a:ext>
            </a:extLst>
          </p:cNvPr>
          <p:cNvSpPr>
            <a:spLocks noGrp="1"/>
          </p:cNvSpPr>
          <p:nvPr/>
        </p:nvSpPr>
        <p:spPr>
          <a:xfrm>
            <a:off x="495300" y="3101054"/>
            <a:ext cx="23717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Value of information from vibration-based SHM via Bayesian model updating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310A13-57EC-4C45-904B-D2ACCAE053D1}"/>
              </a:ext>
            </a:extLst>
          </p:cNvPr>
          <p:cNvSpPr>
            <a:spLocks noGrp="1"/>
          </p:cNvSpPr>
          <p:nvPr/>
        </p:nvSpPr>
        <p:spPr>
          <a:xfrm>
            <a:off x="2943225" y="3016289"/>
            <a:ext cx="1066800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ADDBCE-D094-4869-ACB3-CF8CD014C5F6}"/>
              </a:ext>
            </a:extLst>
          </p:cNvPr>
          <p:cNvSpPr>
            <a:spLocks noGrp="1"/>
          </p:cNvSpPr>
          <p:nvPr/>
        </p:nvSpPr>
        <p:spPr>
          <a:xfrm>
            <a:off x="3019425" y="3101054"/>
            <a:ext cx="91440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Kamariotis et al.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3C8A3C-646D-4578-B7D5-A73B1512232E}"/>
              </a:ext>
            </a:extLst>
          </p:cNvPr>
          <p:cNvSpPr>
            <a:spLocks noGrp="1"/>
          </p:cNvSpPr>
          <p:nvPr/>
        </p:nvSpPr>
        <p:spPr>
          <a:xfrm>
            <a:off x="4010025" y="3016289"/>
            <a:ext cx="781050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9351F8-6839-477A-A849-0F30640D3C5C}"/>
              </a:ext>
            </a:extLst>
          </p:cNvPr>
          <p:cNvSpPr>
            <a:spLocks noGrp="1"/>
          </p:cNvSpPr>
          <p:nvPr/>
        </p:nvSpPr>
        <p:spPr>
          <a:xfrm>
            <a:off x="4086225" y="3101054"/>
            <a:ext cx="62865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1A666F-9474-4E30-92DA-D3D108849A8E}"/>
              </a:ext>
            </a:extLst>
          </p:cNvPr>
          <p:cNvSpPr>
            <a:spLocks noGrp="1"/>
          </p:cNvSpPr>
          <p:nvPr/>
        </p:nvSpPr>
        <p:spPr>
          <a:xfrm>
            <a:off x="4695825" y="3016289"/>
            <a:ext cx="15716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B5DF10-4572-4844-847E-45BBC8FA2797}"/>
              </a:ext>
            </a:extLst>
          </p:cNvPr>
          <p:cNvSpPr>
            <a:spLocks noGrp="1"/>
          </p:cNvSpPr>
          <p:nvPr/>
        </p:nvSpPr>
        <p:spPr>
          <a:xfrm>
            <a:off x="4772025" y="3101054"/>
            <a:ext cx="1419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3497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Mechanical Systems and Signal Processing</a:t>
            </a:r>
          </a:p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A36267-B630-48CC-AF65-6FE4AC4822B3}"/>
              </a:ext>
            </a:extLst>
          </p:cNvPr>
          <p:cNvSpPr>
            <a:spLocks noGrp="1"/>
          </p:cNvSpPr>
          <p:nvPr/>
        </p:nvSpPr>
        <p:spPr>
          <a:xfrm>
            <a:off x="6267450" y="3016289"/>
            <a:ext cx="27146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2BCA86-347F-4D98-A40D-0313AB0B8D4B}"/>
              </a:ext>
            </a:extLst>
          </p:cNvPr>
          <p:cNvSpPr>
            <a:spLocks noGrp="1"/>
          </p:cNvSpPr>
          <p:nvPr/>
        </p:nvSpPr>
        <p:spPr>
          <a:xfrm>
            <a:off x="6343650" y="3101054"/>
            <a:ext cx="2562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Accelerations + OMA modal data + deterioration/cost models → reliability, lifecycle cost and VoI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DD3C9D5-C1C7-402F-92EB-AE0408DF0139}"/>
              </a:ext>
            </a:extLst>
          </p:cNvPr>
          <p:cNvSpPr>
            <a:spLocks noGrp="1"/>
          </p:cNvSpPr>
          <p:nvPr/>
        </p:nvSpPr>
        <p:spPr>
          <a:xfrm>
            <a:off x="8982075" y="3016289"/>
            <a:ext cx="27908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880C7C-7D54-4551-AD71-A111A97B5D94}"/>
              </a:ext>
            </a:extLst>
          </p:cNvPr>
          <p:cNvSpPr>
            <a:spLocks noGrp="1"/>
          </p:cNvSpPr>
          <p:nvPr/>
        </p:nvSpPr>
        <p:spPr>
          <a:xfrm>
            <a:off x="9058275" y="3101054"/>
            <a:ext cx="26384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822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Shows how monitoring information can be valued by the maintenance decisions it changes.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8EA7719-4B23-490F-9C06-DD0735EBC630}"/>
              </a:ext>
            </a:extLst>
          </p:cNvPr>
          <p:cNvSpPr>
            <a:spLocks noGrp="1"/>
          </p:cNvSpPr>
          <p:nvPr/>
        </p:nvSpPr>
        <p:spPr>
          <a:xfrm>
            <a:off x="419100" y="4128828"/>
            <a:ext cx="25241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4B0769-EBF6-4AF8-8EA9-63EC7730410F}"/>
              </a:ext>
            </a:extLst>
          </p:cNvPr>
          <p:cNvSpPr>
            <a:spLocks noGrp="1"/>
          </p:cNvSpPr>
          <p:nvPr/>
        </p:nvSpPr>
        <p:spPr>
          <a:xfrm>
            <a:off x="495300" y="4213593"/>
            <a:ext cx="23717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Bridging POMDPs and Bayesian decision making for robust maintenance planning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C69814-8515-4278-A92A-1CD71FC05338}"/>
              </a:ext>
            </a:extLst>
          </p:cNvPr>
          <p:cNvSpPr>
            <a:spLocks noGrp="1"/>
          </p:cNvSpPr>
          <p:nvPr/>
        </p:nvSpPr>
        <p:spPr>
          <a:xfrm>
            <a:off x="2943225" y="4128828"/>
            <a:ext cx="1066800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8D2B2F-A752-4317-913C-B373238BDF93}"/>
              </a:ext>
            </a:extLst>
          </p:cNvPr>
          <p:cNvSpPr>
            <a:spLocks noGrp="1"/>
          </p:cNvSpPr>
          <p:nvPr/>
        </p:nvSpPr>
        <p:spPr>
          <a:xfrm>
            <a:off x="3019425" y="4213593"/>
            <a:ext cx="91440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Arcieri et al.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A0005F-9F26-4ED0-B4C7-966EAAFF8B79}"/>
              </a:ext>
            </a:extLst>
          </p:cNvPr>
          <p:cNvSpPr>
            <a:spLocks noGrp="1"/>
          </p:cNvSpPr>
          <p:nvPr/>
        </p:nvSpPr>
        <p:spPr>
          <a:xfrm>
            <a:off x="4010025" y="4128828"/>
            <a:ext cx="781050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98D85F-B514-4860-802D-461E0B1E8E63}"/>
              </a:ext>
            </a:extLst>
          </p:cNvPr>
          <p:cNvSpPr>
            <a:spLocks noGrp="1"/>
          </p:cNvSpPr>
          <p:nvPr/>
        </p:nvSpPr>
        <p:spPr>
          <a:xfrm>
            <a:off x="4086225" y="4213593"/>
            <a:ext cx="62865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E59819-0512-484D-A920-A68F2D092F63}"/>
              </a:ext>
            </a:extLst>
          </p:cNvPr>
          <p:cNvSpPr>
            <a:spLocks noGrp="1"/>
          </p:cNvSpPr>
          <p:nvPr/>
        </p:nvSpPr>
        <p:spPr>
          <a:xfrm>
            <a:off x="4695825" y="4128828"/>
            <a:ext cx="15716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BBD7B5F-05CD-4E4D-AE6F-6AFA6D340DF2}"/>
              </a:ext>
            </a:extLst>
          </p:cNvPr>
          <p:cNvSpPr>
            <a:spLocks noGrp="1"/>
          </p:cNvSpPr>
          <p:nvPr/>
        </p:nvSpPr>
        <p:spPr>
          <a:xfrm>
            <a:off x="4772025" y="4213593"/>
            <a:ext cx="1419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Reliability Engineering &amp; System Safety</a:t>
            </a:r>
          </a:p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Elsevier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931D2-F2AB-47A7-9DAA-2DC68B0616B9}"/>
              </a:ext>
            </a:extLst>
          </p:cNvPr>
          <p:cNvSpPr>
            <a:spLocks noGrp="1"/>
          </p:cNvSpPr>
          <p:nvPr/>
        </p:nvSpPr>
        <p:spPr>
          <a:xfrm>
            <a:off x="6267450" y="4128828"/>
            <a:ext cx="27146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29B304-A46D-4E3A-9776-05A508C93375}"/>
              </a:ext>
            </a:extLst>
          </p:cNvPr>
          <p:cNvSpPr>
            <a:spLocks noGrp="1"/>
          </p:cNvSpPr>
          <p:nvPr/>
        </p:nvSpPr>
        <p:spPr>
          <a:xfrm>
            <a:off x="6343650" y="4213593"/>
            <a:ext cx="2562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Railway indicators + model uncertainty + actions → robust maintenance policy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35BE242-20E8-4E44-8056-246C82F69E7A}"/>
              </a:ext>
            </a:extLst>
          </p:cNvPr>
          <p:cNvSpPr>
            <a:spLocks noGrp="1"/>
          </p:cNvSpPr>
          <p:nvPr/>
        </p:nvSpPr>
        <p:spPr>
          <a:xfrm>
            <a:off x="8982075" y="4128828"/>
            <a:ext cx="2790825" cy="1112539"/>
          </a:xfrm>
          <a:prstGeom prst="rect">
            <a:avLst/>
          </a:prstGeom>
          <a:solidFill>
            <a:srgbClr val="FFFFFF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E01B620-ED51-492A-9D96-A396A9ACA270}"/>
              </a:ext>
            </a:extLst>
          </p:cNvPr>
          <p:cNvSpPr>
            <a:spLocks noGrp="1"/>
          </p:cNvSpPr>
          <p:nvPr/>
        </p:nvSpPr>
        <p:spPr>
          <a:xfrm>
            <a:off x="9058275" y="4213593"/>
            <a:ext cx="26384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75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Explicit model uncertainty prevents overconfident maintenance policies and supports sequential decisions.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4722DB-1C40-4FFF-9067-6DCB7E698165}"/>
              </a:ext>
            </a:extLst>
          </p:cNvPr>
          <p:cNvSpPr>
            <a:spLocks noGrp="1"/>
          </p:cNvSpPr>
          <p:nvPr/>
        </p:nvSpPr>
        <p:spPr>
          <a:xfrm>
            <a:off x="419100" y="5241367"/>
            <a:ext cx="25241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7E3DD51-C04B-4C5A-A3DC-5D0D24DB600E}"/>
              </a:ext>
            </a:extLst>
          </p:cNvPr>
          <p:cNvSpPr>
            <a:spLocks noGrp="1"/>
          </p:cNvSpPr>
          <p:nvPr/>
        </p:nvSpPr>
        <p:spPr>
          <a:xfrm>
            <a:off x="495300" y="5326132"/>
            <a:ext cx="23717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Water transport through cracked concrete structures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E3147-0C00-498E-A532-4438A972C9F2}"/>
              </a:ext>
            </a:extLst>
          </p:cNvPr>
          <p:cNvSpPr>
            <a:spLocks noGrp="1"/>
          </p:cNvSpPr>
          <p:nvPr/>
        </p:nvSpPr>
        <p:spPr>
          <a:xfrm>
            <a:off x="2943225" y="5241367"/>
            <a:ext cx="1066800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741D4B1-5784-4CB6-8D38-6AE165E1EB35}"/>
              </a:ext>
            </a:extLst>
          </p:cNvPr>
          <p:cNvSpPr>
            <a:spLocks noGrp="1"/>
          </p:cNvSpPr>
          <p:nvPr/>
        </p:nvSpPr>
        <p:spPr>
          <a:xfrm>
            <a:off x="3019425" y="5326132"/>
            <a:ext cx="91440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Mengel, Krauss et al.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E506342-8DF0-4608-8890-F4F7A8D82795}"/>
              </a:ext>
            </a:extLst>
          </p:cNvPr>
          <p:cNvSpPr>
            <a:spLocks noGrp="1"/>
          </p:cNvSpPr>
          <p:nvPr/>
        </p:nvSpPr>
        <p:spPr>
          <a:xfrm>
            <a:off x="4010025" y="5241367"/>
            <a:ext cx="781050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8304B4C-3217-47C2-90F4-B6F0AA85689A}"/>
              </a:ext>
            </a:extLst>
          </p:cNvPr>
          <p:cNvSpPr>
            <a:spLocks noGrp="1"/>
          </p:cNvSpPr>
          <p:nvPr/>
        </p:nvSpPr>
        <p:spPr>
          <a:xfrm>
            <a:off x="4086225" y="5326132"/>
            <a:ext cx="628650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2022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19C8EF-BDEC-41F4-9FAC-4B82BD68BC09}"/>
              </a:ext>
            </a:extLst>
          </p:cNvPr>
          <p:cNvSpPr>
            <a:spLocks noGrp="1"/>
          </p:cNvSpPr>
          <p:nvPr/>
        </p:nvSpPr>
        <p:spPr>
          <a:xfrm>
            <a:off x="4695825" y="5241367"/>
            <a:ext cx="15716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A9A7B99-B21B-4CFC-8BE2-1F96385324C5}"/>
              </a:ext>
            </a:extLst>
          </p:cNvPr>
          <p:cNvSpPr>
            <a:spLocks noGrp="1"/>
          </p:cNvSpPr>
          <p:nvPr/>
        </p:nvSpPr>
        <p:spPr>
          <a:xfrm>
            <a:off x="4772025" y="5326132"/>
            <a:ext cx="1419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Materials</a:t>
            </a:r>
          </a:p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MDPI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CAFB23-29DE-4345-928B-EAC67475957D}"/>
              </a:ext>
            </a:extLst>
          </p:cNvPr>
          <p:cNvSpPr>
            <a:spLocks noGrp="1"/>
          </p:cNvSpPr>
          <p:nvPr/>
        </p:nvSpPr>
        <p:spPr>
          <a:xfrm>
            <a:off x="6267450" y="5241367"/>
            <a:ext cx="27146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92A73F5-1798-4D6B-BEF2-0386EC1E782E}"/>
              </a:ext>
            </a:extLst>
          </p:cNvPr>
          <p:cNvSpPr>
            <a:spLocks noGrp="1"/>
          </p:cNvSpPr>
          <p:nvPr/>
        </p:nvSpPr>
        <p:spPr>
          <a:xfrm>
            <a:off x="6343650" y="5326132"/>
            <a:ext cx="25622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Mixture proportion + µCT crack geometry → tortuosity, internal width and water flow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A0617AC-E50C-44DF-83B3-C52B38EF69DE}"/>
              </a:ext>
            </a:extLst>
          </p:cNvPr>
          <p:cNvSpPr>
            <a:spLocks noGrp="1"/>
          </p:cNvSpPr>
          <p:nvPr/>
        </p:nvSpPr>
        <p:spPr>
          <a:xfrm>
            <a:off x="8982075" y="5241367"/>
            <a:ext cx="2790825" cy="1112539"/>
          </a:xfrm>
          <a:prstGeom prst="rect">
            <a:avLst/>
          </a:prstGeom>
          <a:solidFill>
            <a:srgbClr val="F1F5F9"/>
          </a:solidFill>
          <a:ln w="9525">
            <a:solidFill>
              <a:srgbClr val="B8C1CC"/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D62386-4341-4ACB-9B0D-595CC00BE675}"/>
              </a:ext>
            </a:extLst>
          </p:cNvPr>
          <p:cNvSpPr>
            <a:spLocks noGrp="1"/>
          </p:cNvSpPr>
          <p:nvPr/>
        </p:nvSpPr>
        <p:spPr>
          <a:xfrm>
            <a:off x="9058275" y="5326132"/>
            <a:ext cx="2638425" cy="9642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875" lnSpcReduction="10000"/>
          </a:bodyPr>
          <a:lstStyle/>
          <a:p>
            <a:pPr algn="l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Mixture-controlled crack geometry changes water transport; larger aggregate increased tortuosity and reduced flow.</a:t>
            </a:r>
          </a:p>
        </p:txBody>
      </p:sp>
    </p:spTree>
    <p:extLst>
      <p:ext uri="{BB962C8B-B14F-4D97-AF65-F5344CB8AC3E}">
        <p14:creationId xmlns:p14="http://schemas.microsoft.com/office/powerpoint/2010/main" val="1882296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610E493-620A-48B8-AEFD-FC848FD2F30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Research Gap Identification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CB984-356B-420C-8829-39AFC5EF7D8B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283295-EF59-4BF1-B455-2A5CA02C9170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411035-1D86-495A-8433-E93BF24A96FC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2740C2-CAD5-45C8-BF7C-0D28276670A5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16633D-B8C6-40A7-8925-868BEE22059E}"/>
              </a:ext>
            </a:extLst>
          </p:cNvPr>
          <p:cNvSpPr>
            <a:spLocks noGrp="1"/>
          </p:cNvSpPr>
          <p:nvPr/>
        </p:nvSpPr>
        <p:spPr>
          <a:xfrm>
            <a:off x="1257300" y="17907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Structural health monitoring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37F20-1EB0-4138-8D36-3CCFC49C91B9}"/>
              </a:ext>
            </a:extLst>
          </p:cNvPr>
          <p:cNvSpPr>
            <a:spLocks noGrp="1"/>
          </p:cNvSpPr>
          <p:nvPr/>
        </p:nvSpPr>
        <p:spPr>
          <a:xfrm>
            <a:off x="4324350" y="1771650"/>
            <a:ext cx="708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2714" lnSpcReduction="10000"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Many studies identify a damage indicator, but do not propagate its uncertainty to a member-level state.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E27338-0A85-4FA0-AC9B-6D0677109DB8}"/>
              </a:ext>
            </a:extLst>
          </p:cNvPr>
          <p:cNvSpPr>
            <a:spLocks noGrp="1"/>
          </p:cNvSpPr>
          <p:nvPr/>
        </p:nvSpPr>
        <p:spPr>
          <a:xfrm>
            <a:off x="1257300" y="2324100"/>
            <a:ext cx="101536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AABB9B-47D0-4109-852E-B46D5B527496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2.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C66281-05DE-4B43-988C-9CE5D5A816B6}"/>
              </a:ext>
            </a:extLst>
          </p:cNvPr>
          <p:cNvSpPr>
            <a:spLocks noGrp="1"/>
          </p:cNvSpPr>
          <p:nvPr/>
        </p:nvSpPr>
        <p:spPr>
          <a:xfrm>
            <a:off x="1257300" y="2571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Digital-twin updating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F0FB82-E2D9-4F17-8DDA-2147B934B322}"/>
              </a:ext>
            </a:extLst>
          </p:cNvPr>
          <p:cNvSpPr>
            <a:spLocks noGrp="1"/>
          </p:cNvSpPr>
          <p:nvPr/>
        </p:nvSpPr>
        <p:spPr>
          <a:xfrm>
            <a:off x="4324350" y="2552700"/>
            <a:ext cx="708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45873" lnSpcReduction="20000"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Model updating is often reported without retaining the full posterior covariance needed for later decisions.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B112DE-38C4-44C7-BB36-5DCAC1EC6E15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101536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184C66-ECB2-4A91-B8DE-E94DA05CA9A9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3.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9A9047-C14C-42A9-9ADE-2F12C61D870D}"/>
              </a:ext>
            </a:extLst>
          </p:cNvPr>
          <p:cNvSpPr>
            <a:spLocks noGrp="1"/>
          </p:cNvSpPr>
          <p:nvPr/>
        </p:nvSpPr>
        <p:spPr>
          <a:xfrm>
            <a:off x="1257300" y="33528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Durability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BEED61-EF02-40AD-A606-C23C5F9490EB}"/>
              </a:ext>
            </a:extLst>
          </p:cNvPr>
          <p:cNvSpPr>
            <a:spLocks noGrp="1"/>
          </p:cNvSpPr>
          <p:nvPr/>
        </p:nvSpPr>
        <p:spPr>
          <a:xfrm>
            <a:off x="4324350" y="3333750"/>
            <a:ext cx="708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9052" lnSpcReduction="20000"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Crack–water transport studies are rarely linked to vibration-inferred structural states.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FC146A-331C-482A-AEA1-6A087E61C6B8}"/>
              </a:ext>
            </a:extLst>
          </p:cNvPr>
          <p:cNvSpPr>
            <a:spLocks noGrp="1"/>
          </p:cNvSpPr>
          <p:nvPr/>
        </p:nvSpPr>
        <p:spPr>
          <a:xfrm>
            <a:off x="1257300" y="3886200"/>
            <a:ext cx="101536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ABFF33-C95C-4F71-B990-046CFEF0C427}"/>
              </a:ext>
            </a:extLst>
          </p:cNvPr>
          <p:cNvSpPr>
            <a:spLocks noGrp="1"/>
          </p:cNvSpPr>
          <p:nvPr/>
        </p:nvSpPr>
        <p:spPr>
          <a:xfrm>
            <a:off x="723900" y="41338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4.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BDE9A4-527D-4F16-B276-23A1B02B6F37}"/>
              </a:ext>
            </a:extLst>
          </p:cNvPr>
          <p:cNvSpPr>
            <a:spLocks noGrp="1"/>
          </p:cNvSpPr>
          <p:nvPr/>
        </p:nvSpPr>
        <p:spPr>
          <a:xfrm>
            <a:off x="1257300" y="41338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Maintenance planning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D4FC0B-00B3-4CF7-A759-6CF0C2491E49}"/>
              </a:ext>
            </a:extLst>
          </p:cNvPr>
          <p:cNvSpPr>
            <a:spLocks noGrp="1"/>
          </p:cNvSpPr>
          <p:nvPr/>
        </p:nvSpPr>
        <p:spPr>
          <a:xfrm>
            <a:off x="4324350" y="4114800"/>
            <a:ext cx="708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8030" lnSpcReduction="10000"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Maintenance optimisation is commonly separated from experimentally measured structural and cover condition.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AD771E-9622-4D72-8C78-DB34C92F5CE3}"/>
              </a:ext>
            </a:extLst>
          </p:cNvPr>
          <p:cNvSpPr>
            <a:spLocks noGrp="1"/>
          </p:cNvSpPr>
          <p:nvPr/>
        </p:nvSpPr>
        <p:spPr>
          <a:xfrm>
            <a:off x="1257300" y="4667250"/>
            <a:ext cx="101536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B8EBB-1591-4B88-92BB-989C36980A17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5.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70FBA4-5D80-417D-9B04-8C5BC2ABA1CE}"/>
              </a:ext>
            </a:extLst>
          </p:cNvPr>
          <p:cNvSpPr>
            <a:spLocks noGrp="1"/>
          </p:cNvSpPr>
          <p:nvPr/>
        </p:nvSpPr>
        <p:spPr>
          <a:xfrm>
            <a:off x="1257300" y="49149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Research gap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74AD1C-EDCA-4833-A985-F18C2EFA2B4D}"/>
              </a:ext>
            </a:extLst>
          </p:cNvPr>
          <p:cNvSpPr>
            <a:spLocks noGrp="1"/>
          </p:cNvSpPr>
          <p:nvPr/>
        </p:nvSpPr>
        <p:spPr>
          <a:xfrm>
            <a:off x="4324350" y="4895850"/>
            <a:ext cx="708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49687" lnSpcReduction="20000"/>
          </a:bodyPr>
          <a:lstStyle/>
          <a:p>
            <a:pPr algn="l">
              <a:buNone/>
              <a:defRPr sz="135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An experimentally anchored workflow is needed to connect vibration, uncertain state estimation, water transport and retrofit sequencing.</a:t>
            </a:r>
          </a:p>
        </p:txBody>
      </p:sp>
    </p:spTree>
    <p:extLst>
      <p:ext uri="{BB962C8B-B14F-4D97-AF65-F5344CB8AC3E}">
        <p14:creationId xmlns:p14="http://schemas.microsoft.com/office/powerpoint/2010/main" val="107741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A0DEC92-8ECA-4AD3-A5DD-7B2A9120BED7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Aim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82C073-D0AD-4355-B1DE-ABEC684355D2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A8119-0121-432C-961D-82D5152DDBCC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581455-3771-4B20-8F04-297E53E8B634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625" lnSpcReduction="20000"/>
          </a:bodyPr>
          <a:lstStyle/>
          <a:p>
            <a:pPr algn="l">
              <a:buNone/>
              <a:defRPr sz="17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Aim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175D7-0033-4BBC-B70E-157CFD8969F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7127" lnSpcReduction="20000"/>
          </a:bodyPr>
          <a:lstStyle/>
          <a:p>
            <a:pPr algn="l">
              <a:buNone/>
              <a:defRPr sz="15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Develop and experimentally calibrate a vibration-driven structural digital twin for retrofit and inspection decisions under uncertainty.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6F2D65-66BA-4C0B-8946-FF4F502D36F7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06680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21168A-97FB-4201-B31B-D60E406BBC02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625" lnSpcReduction="20000"/>
          </a:bodyPr>
          <a:lstStyle/>
          <a:p>
            <a:pPr algn="l">
              <a:buNone/>
              <a:defRPr sz="17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979720-79F9-427C-A64A-17A6319F3DD6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5417" lnSpcReduction="20000"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FE2AC7-CF95-4CC9-911D-E1557CD17457}"/>
              </a:ext>
            </a:extLst>
          </p:cNvPr>
          <p:cNvSpPr>
            <a:spLocks noGrp="1"/>
          </p:cNvSpPr>
          <p:nvPr/>
        </p:nvSpPr>
        <p:spPr>
          <a:xfrm>
            <a:off x="1276350" y="2971800"/>
            <a:ext cx="1007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958" lnSpcReduction="10000"/>
          </a:bodyPr>
          <a:lstStyle/>
          <a:p>
            <a:pPr algn="l">
              <a:buNone/>
              <a:defRPr sz="142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Extract modal parameters while correcting environmental and operational variability.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089BB0-0A8C-4BD7-84A1-994013470252}"/>
              </a:ext>
            </a:extLst>
          </p:cNvPr>
          <p:cNvSpPr>
            <a:spLocks noGrp="1"/>
          </p:cNvSpPr>
          <p:nvPr/>
        </p:nvSpPr>
        <p:spPr>
          <a:xfrm>
            <a:off x="1276350" y="3409950"/>
            <a:ext cx="100774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A41251-3AEA-4DD2-8C03-47D673C9047D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5417" lnSpcReduction="20000"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2.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4B6CE8-4747-4DED-86D5-691CB20D85BB}"/>
              </a:ext>
            </a:extLst>
          </p:cNvPr>
          <p:cNvSpPr>
            <a:spLocks noGrp="1"/>
          </p:cNvSpPr>
          <p:nvPr/>
        </p:nvSpPr>
        <p:spPr>
          <a:xfrm>
            <a:off x="1276350" y="3524250"/>
            <a:ext cx="1007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958" lnSpcReduction="10000"/>
          </a:bodyPr>
          <a:lstStyle/>
          <a:p>
            <a:pPr algn="l">
              <a:buNone/>
              <a:defRPr sz="142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Estimate per-member stiffness ratio α together with its posterior covariance.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1A3A4A-3E27-4D71-A6CC-D3B7E6108334}"/>
              </a:ext>
            </a:extLst>
          </p:cNvPr>
          <p:cNvSpPr>
            <a:spLocks noGrp="1"/>
          </p:cNvSpPr>
          <p:nvPr/>
        </p:nvSpPr>
        <p:spPr>
          <a:xfrm>
            <a:off x="1276350" y="3962400"/>
            <a:ext cx="100774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61586D-20A5-469E-B262-BA3A2489B8FD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5417" lnSpcReduction="20000"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3.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A0CB1-36CD-4A08-AA66-E582336CAEB0}"/>
              </a:ext>
            </a:extLst>
          </p:cNvPr>
          <p:cNvSpPr>
            <a:spLocks noGrp="1"/>
          </p:cNvSpPr>
          <p:nvPr/>
        </p:nvSpPr>
        <p:spPr>
          <a:xfrm>
            <a:off x="1276350" y="4076700"/>
            <a:ext cx="1007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958" lnSpcReduction="10000"/>
          </a:bodyPr>
          <a:lstStyle/>
          <a:p>
            <a:pPr algn="l">
              <a:buNone/>
              <a:defRPr sz="142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Relate α, crack width and orientation to ASTM C1585 water sorptivity.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B58E48-95EE-44DD-A5CB-01CC16EBB30D}"/>
              </a:ext>
            </a:extLst>
          </p:cNvPr>
          <p:cNvSpPr>
            <a:spLocks noGrp="1"/>
          </p:cNvSpPr>
          <p:nvPr/>
        </p:nvSpPr>
        <p:spPr>
          <a:xfrm>
            <a:off x="1276350" y="4514850"/>
            <a:ext cx="100774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283D07-FA0C-4E3C-BB0E-63DEBED07F02}"/>
              </a:ext>
            </a:extLst>
          </p:cNvPr>
          <p:cNvSpPr>
            <a:spLocks noGrp="1"/>
          </p:cNvSpPr>
          <p:nvPr/>
        </p:nvSpPr>
        <p:spPr>
          <a:xfrm>
            <a:off x="800100" y="46482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5417" lnSpcReduction="20000"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4.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1C6CBC-DEC6-4054-96C2-5CA900C52980}"/>
              </a:ext>
            </a:extLst>
          </p:cNvPr>
          <p:cNvSpPr>
            <a:spLocks noGrp="1"/>
          </p:cNvSpPr>
          <p:nvPr/>
        </p:nvSpPr>
        <p:spPr>
          <a:xfrm>
            <a:off x="1276350" y="4629150"/>
            <a:ext cx="1007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958" lnSpcReduction="10000"/>
          </a:bodyPr>
          <a:lstStyle/>
          <a:p>
            <a:pPr algn="l">
              <a:buNone/>
              <a:defRPr sz="142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Map the estimated state to component performance and acceptance levels.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1985D0-9E6B-472C-9177-8A1E7BD86AE7}"/>
              </a:ext>
            </a:extLst>
          </p:cNvPr>
          <p:cNvSpPr>
            <a:spLocks noGrp="1"/>
          </p:cNvSpPr>
          <p:nvPr/>
        </p:nvSpPr>
        <p:spPr>
          <a:xfrm>
            <a:off x="1276350" y="5067300"/>
            <a:ext cx="100774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E3B3D4-BEDA-4FAD-9C2F-846C50B21943}"/>
              </a:ext>
            </a:extLst>
          </p:cNvPr>
          <p:cNvSpPr>
            <a:spLocks noGrp="1"/>
          </p:cNvSpPr>
          <p:nvPr/>
        </p:nvSpPr>
        <p:spPr>
          <a:xfrm>
            <a:off x="800100" y="52006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5417" lnSpcReduction="20000"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5.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56A99B-EC51-4F50-AF4B-02FE027BD569}"/>
              </a:ext>
            </a:extLst>
          </p:cNvPr>
          <p:cNvSpPr>
            <a:spLocks noGrp="1"/>
          </p:cNvSpPr>
          <p:nvPr/>
        </p:nvSpPr>
        <p:spPr>
          <a:xfrm>
            <a:off x="1276350" y="5181600"/>
            <a:ext cx="1007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958" lnSpcReduction="10000"/>
          </a:bodyPr>
          <a:lstStyle/>
          <a:p>
            <a:pPr algn="l">
              <a:buNone/>
              <a:defRPr sz="142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Select inspection, repair, sequencing and scheduling actions subject to hard constraints.</a:t>
            </a:r>
          </a:p>
        </p:txBody>
      </p:sp>
    </p:spTree>
    <p:extLst>
      <p:ext uri="{BB962C8B-B14F-4D97-AF65-F5344CB8AC3E}">
        <p14:creationId xmlns:p14="http://schemas.microsoft.com/office/powerpoint/2010/main" val="177112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632B26-FD9E-4E31-875B-C112828FCCB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Architecture · the chain from sensing to retrofit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899358-8820-41B0-B0A7-75B4418CD76B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8B85A6-0D4C-463E-8D7A-60BEE3ECE0A6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C74843C-D4DF-4B0B-8A46-7BCE2AAF7672}"/>
              </a:ext>
            </a:extLst>
          </p:cNvPr>
          <p:cNvSpPr>
            <a:spLocks noGrp="1"/>
          </p:cNvSpPr>
          <p:nvPr/>
        </p:nvSpPr>
        <p:spPr>
          <a:xfrm>
            <a:off x="419100" y="1257300"/>
            <a:ext cx="4248150" cy="285750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 w="0">
            <a:solidFill>
              <a:srgbClr val="E8F7F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2AF28-2372-4269-B211-83518B76B351}"/>
              </a:ext>
            </a:extLst>
          </p:cNvPr>
          <p:cNvSpPr>
            <a:spLocks noGrp="1"/>
          </p:cNvSpPr>
          <p:nvPr/>
        </p:nvSpPr>
        <p:spPr>
          <a:xfrm>
            <a:off x="495300" y="1304925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4583" lnSpcReduction="20000"/>
          </a:bodyPr>
          <a:lstStyle/>
          <a:p>
            <a:pPr algn="ctr">
              <a:buNone/>
              <a:def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rPr>
              <a:t>DEFINED ARCHITECTURE · EXPERIMENTAL COEFFICIENTS PENDING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FE2421-E0AD-4B05-8287-26B443DB5F79}"/>
              </a:ext>
            </a:extLst>
          </p:cNvPr>
          <p:cNvSpPr>
            <a:spLocks noGrp="1"/>
          </p:cNvSpPr>
          <p:nvPr/>
        </p:nvSpPr>
        <p:spPr>
          <a:xfrm>
            <a:off x="419100" y="1657350"/>
            <a:ext cx="11353800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pic>
        <p:nvPicPr>
          <p:cNvPr id="16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69067" y="1752600"/>
            <a:ext cx="7653867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68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5D915E1-6F60-4220-ADE4-FDA37B308F7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Two-Tier State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BDBBD4-4BE0-4762-A657-7A0DDCAA4094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BC8F33-7581-44E9-AA98-862661683D56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AB53FD-B3D7-46A3-886A-36C778B6C929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DB1F1A-9AB4-447C-BE1C-4326017DC76C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AA8A54-44ED-4519-971A-E2034DF372FF}"/>
              </a:ext>
            </a:extLst>
          </p:cNvPr>
          <p:cNvSpPr>
            <a:spLocks noGrp="1"/>
          </p:cNvSpPr>
          <p:nvPr/>
        </p:nvSpPr>
        <p:spPr>
          <a:xfrm>
            <a:off x="1257300" y="1885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Continuous tier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92DB0F-AA7D-4C4E-928E-16437250ECA9}"/>
              </a:ext>
            </a:extLst>
          </p:cNvPr>
          <p:cNvSpPr>
            <a:spLocks noGrp="1"/>
          </p:cNvSpPr>
          <p:nvPr/>
        </p:nvSpPr>
        <p:spPr>
          <a:xfrm>
            <a:off x="4038600" y="1866900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755" lnSpcReduction="10000"/>
          </a:bodyPr>
          <a:lstStyle/>
          <a:p>
            <a:pPr algn="l">
              <a:buNone/>
              <a:defRPr sz="142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Use vibration response and environmental variables to estimate α, with posterior covariance.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68A942-9271-461E-B407-ED9056CEE6C9}"/>
              </a:ext>
            </a:extLst>
          </p:cNvPr>
          <p:cNvSpPr>
            <a:spLocks noGrp="1"/>
          </p:cNvSpPr>
          <p:nvPr/>
        </p:nvSpPr>
        <p:spPr>
          <a:xfrm>
            <a:off x="1257300" y="2476500"/>
            <a:ext cx="101155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22FC59-647B-4F1E-B634-AEBB384785EA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2.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F43C50-B53C-456F-AF6F-F2985AF19160}"/>
              </a:ext>
            </a:extLst>
          </p:cNvPr>
          <p:cNvSpPr>
            <a:spLocks noGrp="1"/>
          </p:cNvSpPr>
          <p:nvPr/>
        </p:nvSpPr>
        <p:spPr>
          <a:xfrm>
            <a:off x="1257300" y="27813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Reduced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1F9D78-EA45-4020-925E-1A6010F5CFB1}"/>
              </a:ext>
            </a:extLst>
          </p:cNvPr>
          <p:cNvSpPr>
            <a:spLocks noGrp="1"/>
          </p:cNvSpPr>
          <p:nvPr/>
        </p:nvSpPr>
        <p:spPr>
          <a:xfrm>
            <a:off x="4038600" y="2762250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8767" lnSpcReduction="20000"/>
          </a:bodyPr>
          <a:lstStyle/>
          <a:p>
            <a:pPr algn="l">
              <a:buNone/>
              <a:defRPr sz="142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When crack geometry is unavailable, use M(α) and retain deliberately wider uncertainty.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D451AA-A0ED-417D-8D1C-98C22985B206}"/>
              </a:ext>
            </a:extLst>
          </p:cNvPr>
          <p:cNvSpPr>
            <a:spLocks noGrp="1"/>
          </p:cNvSpPr>
          <p:nvPr/>
        </p:nvSpPr>
        <p:spPr>
          <a:xfrm>
            <a:off x="1257300" y="3371850"/>
            <a:ext cx="101155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E022AC-DB3B-4953-B9B9-082F42F5E828}"/>
              </a:ext>
            </a:extLst>
          </p:cNvPr>
          <p:cNvSpPr>
            <a:spLocks noGrp="1"/>
          </p:cNvSpPr>
          <p:nvPr/>
        </p:nvSpPr>
        <p:spPr>
          <a:xfrm>
            <a:off x="723900" y="36766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3.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71F645-1295-48EE-B0AD-145CDB8A3A13}"/>
              </a:ext>
            </a:extLst>
          </p:cNvPr>
          <p:cNvSpPr>
            <a:spLocks noGrp="1"/>
          </p:cNvSpPr>
          <p:nvPr/>
        </p:nvSpPr>
        <p:spPr>
          <a:xfrm>
            <a:off x="12573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Inspection tier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7293E2-A00E-432F-BAB8-B5739F41ADF1}"/>
              </a:ext>
            </a:extLst>
          </p:cNvPr>
          <p:cNvSpPr>
            <a:spLocks noGrp="1"/>
          </p:cNvSpPr>
          <p:nvPr/>
        </p:nvSpPr>
        <p:spPr>
          <a:xfrm>
            <a:off x="4038600" y="3657600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61" lnSpcReduction="10000"/>
          </a:bodyPr>
          <a:lstStyle/>
          <a:p>
            <a:pPr algn="l">
              <a:buNone/>
              <a:defRPr sz="142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After a directed crack survey, augment the state to (α, w, θ) and use the full transport model.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70541-D4ED-40A0-A6AB-4D4271E3B4C6}"/>
              </a:ext>
            </a:extLst>
          </p:cNvPr>
          <p:cNvSpPr>
            <a:spLocks noGrp="1"/>
          </p:cNvSpPr>
          <p:nvPr/>
        </p:nvSpPr>
        <p:spPr>
          <a:xfrm>
            <a:off x="1257300" y="4267200"/>
            <a:ext cx="101155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AAE21F-0BF9-423C-B70B-59470E933123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4.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55415B-8445-4F32-8886-E4B061E384FB}"/>
              </a:ext>
            </a:extLst>
          </p:cNvPr>
          <p:cNvSpPr>
            <a:spLocks noGrp="1"/>
          </p:cNvSpPr>
          <p:nvPr/>
        </p:nvSpPr>
        <p:spPr>
          <a:xfrm>
            <a:off x="1257300" y="45720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Acquisition rule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FD6EC3-007C-4496-BCFE-09684835A4AD}"/>
              </a:ext>
            </a:extLst>
          </p:cNvPr>
          <p:cNvSpPr>
            <a:spLocks noGrp="1"/>
          </p:cNvSpPr>
          <p:nvPr/>
        </p:nvSpPr>
        <p:spPr>
          <a:xfrm>
            <a:off x="4038600" y="4552950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561" lnSpcReduction="20000"/>
          </a:bodyPr>
          <a:lstStyle/>
          <a:p>
            <a:pPr algn="l">
              <a:buNone/>
              <a:defRPr sz="142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Geometry remains valid for k periods or until a new damage event; a new survey is therefore a timed decision.</a:t>
            </a:r>
          </a:p>
        </p:txBody>
      </p:sp>
    </p:spTree>
    <p:extLst>
      <p:ext uri="{BB962C8B-B14F-4D97-AF65-F5344CB8AC3E}">
        <p14:creationId xmlns:p14="http://schemas.microsoft.com/office/powerpoint/2010/main" val="982183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7D63829-17B8-4E9E-952D-86114CE5592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Decision Layer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EBE45F-A7BD-4D39-8D8B-85953A20E00F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B4B387-C281-4ED6-BDB6-D27C22AEE175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C56DBE-A428-4CB5-8291-6105250F81E3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0625" lnSpcReduction="20000"/>
          </a:bodyPr>
          <a:lstStyle/>
          <a:p>
            <a:pPr algn="l">
              <a:buNone/>
              <a:defRPr sz="142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Decision variables are evaluated against uncertainty, cost and constructability constraints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A201FD-713D-4AD1-B9B9-AA19158EDAE5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1.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5D8391-8992-4EF6-AA1B-55B3EBB343EE}"/>
              </a:ext>
            </a:extLst>
          </p:cNvPr>
          <p:cNvSpPr>
            <a:spLocks noGrp="1"/>
          </p:cNvSpPr>
          <p:nvPr/>
        </p:nvSpPr>
        <p:spPr>
          <a:xfrm>
            <a:off x="12573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6495F-FEB5-4001-865B-DCBC02106AC3}"/>
              </a:ext>
            </a:extLst>
          </p:cNvPr>
          <p:cNvSpPr>
            <a:spLocks noGrp="1"/>
          </p:cNvSpPr>
          <p:nvPr/>
        </p:nvSpPr>
        <p:spPr>
          <a:xfrm>
            <a:off x="3638550" y="1790700"/>
            <a:ext cx="773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1461" lnSpcReduction="20000"/>
          </a:bodyPr>
          <a:lstStyle/>
          <a:p>
            <a:pPr algn="l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Member stiffness estimates α with covariance, together with cover-condition information.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FD86A-EAFD-4A39-BF20-ACEBE1DF2F1F}"/>
              </a:ext>
            </a:extLst>
          </p:cNvPr>
          <p:cNvSpPr>
            <a:spLocks noGrp="1"/>
          </p:cNvSpPr>
          <p:nvPr/>
        </p:nvSpPr>
        <p:spPr>
          <a:xfrm>
            <a:off x="1257300" y="2343150"/>
            <a:ext cx="101155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AEBF8A-3AB6-42E9-87BD-F842F4B1D0B2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2.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CAE85-6C77-44A6-885D-FABEB40A63FB}"/>
              </a:ext>
            </a:extLst>
          </p:cNvPr>
          <p:cNvSpPr>
            <a:spLocks noGrp="1"/>
          </p:cNvSpPr>
          <p:nvPr/>
        </p:nvSpPr>
        <p:spPr>
          <a:xfrm>
            <a:off x="1257300" y="2590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Candidate 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650A85-1ADF-4F6E-8D74-BCFAB08B5408}"/>
              </a:ext>
            </a:extLst>
          </p:cNvPr>
          <p:cNvSpPr>
            <a:spLocks noGrp="1"/>
          </p:cNvSpPr>
          <p:nvPr/>
        </p:nvSpPr>
        <p:spPr>
          <a:xfrm>
            <a:off x="3638550" y="2571750"/>
            <a:ext cx="773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9052" lnSpcReduction="20000"/>
          </a:bodyPr>
          <a:lstStyle/>
          <a:p>
            <a:pPr algn="l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Inspection, injection, coating, jacketing and monitoring are represented as selectable actions.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3B5552-607E-46A7-A1E6-5DB36C201C03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101155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246993-DAC5-4ED8-9BE6-E11191B59651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3.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9C0997-2CF8-4C88-B521-30B11432B503}"/>
              </a:ext>
            </a:extLst>
          </p:cNvPr>
          <p:cNvSpPr>
            <a:spLocks noGrp="1"/>
          </p:cNvSpPr>
          <p:nvPr/>
        </p:nvSpPr>
        <p:spPr>
          <a:xfrm>
            <a:off x="1257300" y="3371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Objective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E9CC6D-CB4D-4AAF-82DE-F18F191C7424}"/>
              </a:ext>
            </a:extLst>
          </p:cNvPr>
          <p:cNvSpPr>
            <a:spLocks noGrp="1"/>
          </p:cNvSpPr>
          <p:nvPr/>
        </p:nvSpPr>
        <p:spPr>
          <a:xfrm>
            <a:off x="3638550" y="3352800"/>
            <a:ext cx="773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6814" lnSpcReduction="10000"/>
          </a:bodyPr>
          <a:lstStyle/>
          <a:p>
            <a:pPr algn="l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Compare expected benefit against uncertainty penalty and intervention cost: benefit − λ variance − cost.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1A51E9-260B-4C75-A26E-718D7E8DB2A7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101155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914361-4028-4EDC-909C-73E6DF1EC4D3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4.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20DBA0-1C56-46D7-8294-AB8CDB1DFCA6}"/>
              </a:ext>
            </a:extLst>
          </p:cNvPr>
          <p:cNvSpPr>
            <a:spLocks noGrp="1"/>
          </p:cNvSpPr>
          <p:nvPr/>
        </p:nvSpPr>
        <p:spPr>
          <a:xfrm>
            <a:off x="1257300" y="41529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Constraints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3133D1-1C6D-4A83-8122-F6CD828ABFBD}"/>
              </a:ext>
            </a:extLst>
          </p:cNvPr>
          <p:cNvSpPr>
            <a:spLocks noGrp="1"/>
          </p:cNvSpPr>
          <p:nvPr/>
        </p:nvSpPr>
        <p:spPr>
          <a:xfrm>
            <a:off x="3638550" y="4133850"/>
            <a:ext cx="773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2173" lnSpcReduction="10000"/>
          </a:bodyPr>
          <a:lstStyle/>
          <a:p>
            <a:pPr algn="l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Enforce separate budgets, repair precedence, one-period information delay and limits on members out of service.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728306-2163-4CCA-BCFC-C6FB303818A7}"/>
              </a:ext>
            </a:extLst>
          </p:cNvPr>
          <p:cNvSpPr>
            <a:spLocks noGrp="1"/>
          </p:cNvSpPr>
          <p:nvPr/>
        </p:nvSpPr>
        <p:spPr>
          <a:xfrm>
            <a:off x="1257300" y="4686300"/>
            <a:ext cx="10115550" cy="952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B39CB-968E-47A2-A2E2-8C217B0ADA10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5.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FA1FE-CEF6-4437-A33A-43139DBB5A32}"/>
              </a:ext>
            </a:extLst>
          </p:cNvPr>
          <p:cNvSpPr>
            <a:spLocks noGrp="1"/>
          </p:cNvSpPr>
          <p:nvPr/>
        </p:nvSpPr>
        <p:spPr>
          <a:xfrm>
            <a:off x="1257300" y="49339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625" lnSpcReduction="20000"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9DE0D4-BBF6-4C7E-B427-066E361A813F}"/>
              </a:ext>
            </a:extLst>
          </p:cNvPr>
          <p:cNvSpPr>
            <a:spLocks noGrp="1"/>
          </p:cNvSpPr>
          <p:nvPr/>
        </p:nvSpPr>
        <p:spPr>
          <a:xfrm>
            <a:off x="3638550" y="4914900"/>
            <a:ext cx="773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1780" lnSpcReduction="20000"/>
          </a:bodyPr>
          <a:lstStyle/>
          <a:p>
            <a:pPr algn="l">
              <a:buNone/>
              <a:defRPr sz="135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Return a feasible intervention schedule identifying who, what action and in which period.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62D3E7-3889-44C0-9C94-D74AE1451AB1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7917" lnSpcReduction="10000"/>
          </a:bodyPr>
          <a:lstStyle/>
          <a:p>
            <a:pPr algn="l">
              <a:buNone/>
              <a:defRPr sz="135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The exact MILP solution is retained as the classical benchmark for the decision formulation.</a:t>
            </a:r>
          </a:p>
        </p:txBody>
      </p:sp>
    </p:spTree>
    <p:extLst>
      <p:ext uri="{BB962C8B-B14F-4D97-AF65-F5344CB8AC3E}">
        <p14:creationId xmlns:p14="http://schemas.microsoft.com/office/powerpoint/2010/main" val="1233880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2DAA399-9665-4A98-B271-F8F9C117DB26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6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Experimental campaign · cast, damage, measure, calibrate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34E792-4048-48AE-8101-1847383678AE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98B8AC-238B-466A-BB7C-6AEA8987F0DC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0DB2A6-3410-4FF8-8231-28CE10DC2302}"/>
              </a:ext>
            </a:extLst>
          </p:cNvPr>
          <p:cNvSpPr>
            <a:spLocks noGrp="1"/>
          </p:cNvSpPr>
          <p:nvPr/>
        </p:nvSpPr>
        <p:spPr>
          <a:xfrm>
            <a:off x="419100" y="1295400"/>
            <a:ext cx="2609850" cy="285750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0">
            <a:solidFill>
              <a:srgbClr val="FFF4D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392A91-A9AC-466A-95F8-9BCCC8518B0E}"/>
              </a:ext>
            </a:extLst>
          </p:cNvPr>
          <p:cNvSpPr>
            <a:spLocks noGrp="1"/>
          </p:cNvSpPr>
          <p:nvPr/>
        </p:nvSpPr>
        <p:spPr>
          <a:xfrm>
            <a:off x="495300" y="1343025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4583" lnSpcReduction="20000"/>
          </a:bodyPr>
          <a:lstStyle/>
          <a:p>
            <a:pPr algn="ctr">
              <a:buNone/>
              <a:defRPr sz="9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PLANNED · REVIEW 2 METHODOLOGY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2FB86D-B7B8-4C6B-AD2C-9233C24C9843}"/>
              </a:ext>
            </a:extLst>
          </p:cNvPr>
          <p:cNvSpPr>
            <a:spLocks noGrp="1"/>
          </p:cNvSpPr>
          <p:nvPr/>
        </p:nvSpPr>
        <p:spPr>
          <a:xfrm>
            <a:off x="1085850" y="1885950"/>
            <a:ext cx="685800" cy="6858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76F5A2-D8C4-471D-82C7-7FEB39D0835A}"/>
              </a:ext>
            </a:extLst>
          </p:cNvPr>
          <p:cNvSpPr>
            <a:spLocks noGrp="1"/>
          </p:cNvSpPr>
          <p:nvPr/>
        </p:nvSpPr>
        <p:spPr>
          <a:xfrm>
            <a:off x="1085850" y="20764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EB9FDE-3B3E-4A7F-A71B-DD291A87A9A3}"/>
              </a:ext>
            </a:extLst>
          </p:cNvPr>
          <p:cNvSpPr>
            <a:spLocks noGrp="1"/>
          </p:cNvSpPr>
          <p:nvPr/>
        </p:nvSpPr>
        <p:spPr>
          <a:xfrm>
            <a:off x="1771650" y="2219325"/>
            <a:ext cx="914400" cy="2857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DB52C7-5861-4127-B9BF-0E4D322C1357}"/>
              </a:ext>
            </a:extLst>
          </p:cNvPr>
          <p:cNvSpPr>
            <a:spLocks noGrp="1"/>
          </p:cNvSpPr>
          <p:nvPr/>
        </p:nvSpPr>
        <p:spPr>
          <a:xfrm>
            <a:off x="514350" y="28003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542" lnSpcReduction="20000"/>
          </a:bodyPr>
          <a:lstStyle/>
          <a:p>
            <a:pPr algn="ctr">
              <a:buNone/>
              <a:def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Cast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917B5A-53DA-46BA-A75E-9E07896532E3}"/>
              </a:ext>
            </a:extLst>
          </p:cNvPr>
          <p:cNvSpPr>
            <a:spLocks noGrp="1"/>
          </p:cNvSpPr>
          <p:nvPr/>
        </p:nvSpPr>
        <p:spPr>
          <a:xfrm>
            <a:off x="438150" y="3238500"/>
            <a:ext cx="1981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923" lnSpcReduction="10000"/>
          </a:bodyPr>
          <a:lstStyle/>
          <a:p>
            <a:pPr algn="ctr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RC members with controlled geometry and sensor locations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C00720-725B-415F-8897-D1EE734B9293}"/>
              </a:ext>
            </a:extLst>
          </p:cNvPr>
          <p:cNvSpPr>
            <a:spLocks noGrp="1"/>
          </p:cNvSpPr>
          <p:nvPr/>
        </p:nvSpPr>
        <p:spPr>
          <a:xfrm>
            <a:off x="3352800" y="1885950"/>
            <a:ext cx="685800" cy="6858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5E61FA-63D1-4856-9794-F4A2A675607F}"/>
              </a:ext>
            </a:extLst>
          </p:cNvPr>
          <p:cNvSpPr>
            <a:spLocks noGrp="1"/>
          </p:cNvSpPr>
          <p:nvPr/>
        </p:nvSpPr>
        <p:spPr>
          <a:xfrm>
            <a:off x="3352800" y="20764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6DD43E-E445-4435-9C59-C62691F1519E}"/>
              </a:ext>
            </a:extLst>
          </p:cNvPr>
          <p:cNvSpPr>
            <a:spLocks noGrp="1"/>
          </p:cNvSpPr>
          <p:nvPr/>
        </p:nvSpPr>
        <p:spPr>
          <a:xfrm>
            <a:off x="4038600" y="2219325"/>
            <a:ext cx="914400" cy="2857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AD774-A0F6-4E5A-99F7-428F5B390C31}"/>
              </a:ext>
            </a:extLst>
          </p:cNvPr>
          <p:cNvSpPr>
            <a:spLocks noGrp="1"/>
          </p:cNvSpPr>
          <p:nvPr/>
        </p:nvSpPr>
        <p:spPr>
          <a:xfrm>
            <a:off x="2781300" y="28003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542" lnSpcReduction="20000"/>
          </a:bodyPr>
          <a:lstStyle/>
          <a:p>
            <a:pPr algn="ctr">
              <a:buNone/>
              <a:def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5ED9C-521E-4CC7-B4C9-A8169322DF35}"/>
              </a:ext>
            </a:extLst>
          </p:cNvPr>
          <p:cNvSpPr>
            <a:spLocks noGrp="1"/>
          </p:cNvSpPr>
          <p:nvPr/>
        </p:nvSpPr>
        <p:spPr>
          <a:xfrm>
            <a:off x="2705100" y="3238500"/>
            <a:ext cx="1981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189"/>
          </a:bodyPr>
          <a:lstStyle/>
          <a:p>
            <a:pPr algn="ctr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Modal response + environment + intact reference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1BE89D-144B-4007-B387-9C84F446B7FF}"/>
              </a:ext>
            </a:extLst>
          </p:cNvPr>
          <p:cNvSpPr>
            <a:spLocks noGrp="1"/>
          </p:cNvSpPr>
          <p:nvPr/>
        </p:nvSpPr>
        <p:spPr>
          <a:xfrm>
            <a:off x="5619750" y="1885950"/>
            <a:ext cx="685800" cy="6858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593CB5-9EAF-4143-AF0A-4D0E4EE46240}"/>
              </a:ext>
            </a:extLst>
          </p:cNvPr>
          <p:cNvSpPr>
            <a:spLocks noGrp="1"/>
          </p:cNvSpPr>
          <p:nvPr/>
        </p:nvSpPr>
        <p:spPr>
          <a:xfrm>
            <a:off x="5619750" y="20764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0B2CB6-0557-4B17-9BF1-B89BA56576AF}"/>
              </a:ext>
            </a:extLst>
          </p:cNvPr>
          <p:cNvSpPr>
            <a:spLocks noGrp="1"/>
          </p:cNvSpPr>
          <p:nvPr/>
        </p:nvSpPr>
        <p:spPr>
          <a:xfrm>
            <a:off x="6305550" y="2219325"/>
            <a:ext cx="914400" cy="2857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5FCC69-C67B-4FFE-949A-3F37B7AB4C89}"/>
              </a:ext>
            </a:extLst>
          </p:cNvPr>
          <p:cNvSpPr>
            <a:spLocks noGrp="1"/>
          </p:cNvSpPr>
          <p:nvPr/>
        </p:nvSpPr>
        <p:spPr>
          <a:xfrm>
            <a:off x="5048250" y="28003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542" lnSpcReduction="20000"/>
          </a:bodyPr>
          <a:lstStyle/>
          <a:p>
            <a:pPr algn="ctr">
              <a:buNone/>
              <a:def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Grade damage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3AB6CE-4706-4C9B-B838-90B8653838C4}"/>
              </a:ext>
            </a:extLst>
          </p:cNvPr>
          <p:cNvSpPr>
            <a:spLocks noGrp="1"/>
          </p:cNvSpPr>
          <p:nvPr/>
        </p:nvSpPr>
        <p:spPr>
          <a:xfrm>
            <a:off x="4972050" y="3238500"/>
            <a:ext cx="1981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95" lnSpcReduction="10000"/>
          </a:bodyPr>
          <a:lstStyle/>
          <a:p>
            <a:pPr algn="ctr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UTM displacement control in fixed shallow increments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1E82FA0-5244-491F-8D31-08512B539642}"/>
              </a:ext>
            </a:extLst>
          </p:cNvPr>
          <p:cNvSpPr>
            <a:spLocks noGrp="1"/>
          </p:cNvSpPr>
          <p:nvPr/>
        </p:nvSpPr>
        <p:spPr>
          <a:xfrm>
            <a:off x="7886700" y="1885950"/>
            <a:ext cx="685800" cy="685800"/>
          </a:xfrm>
          <a:prstGeom prst="ellipse">
            <a:avLst/>
          </a:prstGeom>
          <a:solidFill>
            <a:srgbClr val="6B4BB0"/>
          </a:solidFill>
          <a:ln w="0">
            <a:solidFill>
              <a:srgbClr val="6B4BB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2DAAD3-70CE-4E89-89E1-0E772CC5BBF0}"/>
              </a:ext>
            </a:extLst>
          </p:cNvPr>
          <p:cNvSpPr>
            <a:spLocks noGrp="1"/>
          </p:cNvSpPr>
          <p:nvPr/>
        </p:nvSpPr>
        <p:spPr>
          <a:xfrm>
            <a:off x="7886700" y="20764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8FF900-7779-478B-B078-D015A577C920}"/>
              </a:ext>
            </a:extLst>
          </p:cNvPr>
          <p:cNvSpPr>
            <a:spLocks noGrp="1"/>
          </p:cNvSpPr>
          <p:nvPr/>
        </p:nvSpPr>
        <p:spPr>
          <a:xfrm>
            <a:off x="8572500" y="2219325"/>
            <a:ext cx="914400" cy="28575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BFA95C-46D9-4CC6-AB4F-E8F5B0E0FCFB}"/>
              </a:ext>
            </a:extLst>
          </p:cNvPr>
          <p:cNvSpPr>
            <a:spLocks noGrp="1"/>
          </p:cNvSpPr>
          <p:nvPr/>
        </p:nvSpPr>
        <p:spPr>
          <a:xfrm>
            <a:off x="7315200" y="28003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542" lnSpcReduction="20000"/>
          </a:bodyPr>
          <a:lstStyle/>
          <a:p>
            <a:pPr algn="ctr">
              <a:buNone/>
              <a:def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Survey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E7CA93-879F-4E73-9FFE-F4C72B89AFD1}"/>
              </a:ext>
            </a:extLst>
          </p:cNvPr>
          <p:cNvSpPr>
            <a:spLocks noGrp="1"/>
          </p:cNvSpPr>
          <p:nvPr/>
        </p:nvSpPr>
        <p:spPr>
          <a:xfrm>
            <a:off x="7239000" y="3238500"/>
            <a:ext cx="1981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761" lnSpcReduction="20000"/>
          </a:bodyPr>
          <a:lstStyle/>
          <a:p>
            <a:pPr algn="ctr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Crack width w and orientation θ with calibrated imaging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595B048-2C9E-4E74-AA22-1E29837D43D3}"/>
              </a:ext>
            </a:extLst>
          </p:cNvPr>
          <p:cNvSpPr>
            <a:spLocks noGrp="1"/>
          </p:cNvSpPr>
          <p:nvPr/>
        </p:nvSpPr>
        <p:spPr>
          <a:xfrm>
            <a:off x="10153650" y="1885950"/>
            <a:ext cx="685800" cy="685800"/>
          </a:xfrm>
          <a:prstGeom prst="ellipse">
            <a:avLst/>
          </a:prstGeom>
          <a:solidFill>
            <a:srgbClr val="6B4BB0"/>
          </a:solidFill>
          <a:ln w="0">
            <a:solidFill>
              <a:srgbClr val="6B4BB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CCF721-EAE2-4487-B1E2-9DBD670A1104}"/>
              </a:ext>
            </a:extLst>
          </p:cNvPr>
          <p:cNvSpPr>
            <a:spLocks noGrp="1"/>
          </p:cNvSpPr>
          <p:nvPr/>
        </p:nvSpPr>
        <p:spPr>
          <a:xfrm>
            <a:off x="10153650" y="20764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5B7862-0D1F-425B-BAF6-A690C991DE47}"/>
              </a:ext>
            </a:extLst>
          </p:cNvPr>
          <p:cNvSpPr>
            <a:spLocks noGrp="1"/>
          </p:cNvSpPr>
          <p:nvPr/>
        </p:nvSpPr>
        <p:spPr>
          <a:xfrm>
            <a:off x="9582150" y="28003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542" lnSpcReduction="20000"/>
          </a:bodyPr>
          <a:lstStyle/>
          <a:p>
            <a:pPr algn="ctr">
              <a:buNone/>
              <a:defRPr sz="18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Transport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3C689B-09CD-435B-A4CE-531F1E472A81}"/>
              </a:ext>
            </a:extLst>
          </p:cNvPr>
          <p:cNvSpPr>
            <a:spLocks noGrp="1"/>
          </p:cNvSpPr>
          <p:nvPr/>
        </p:nvSpPr>
        <p:spPr>
          <a:xfrm>
            <a:off x="9505950" y="3238500"/>
            <a:ext cx="1981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058" lnSpcReduction="20000"/>
          </a:bodyPr>
          <a:lstStyle/>
          <a:p>
            <a:pPr algn="ctr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Cut specimens and measure ASTM C1585 sorptivity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CA26C11-EEF2-47F0-B6FD-0F1F1B2E6E45}"/>
              </a:ext>
            </a:extLst>
          </p:cNvPr>
          <p:cNvSpPr>
            <a:spLocks noGrp="1"/>
          </p:cNvSpPr>
          <p:nvPr/>
        </p:nvSpPr>
        <p:spPr>
          <a:xfrm>
            <a:off x="419100" y="4762500"/>
            <a:ext cx="5391150" cy="1066800"/>
          </a:xfrm>
          <a:prstGeom prst="roundRect">
            <a:avLst>
              <a:gd name="adj" fmla="val 10714"/>
            </a:avLst>
          </a:prstGeom>
          <a:solidFill>
            <a:srgbClr val="EAF4FF"/>
          </a:solidFill>
          <a:ln w="0">
            <a:solidFill>
              <a:srgbClr val="EAF4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2D9176-23CF-4F01-9416-99F737825EDF}"/>
              </a:ext>
            </a:extLst>
          </p:cNvPr>
          <p:cNvSpPr>
            <a:spLocks noGrp="1"/>
          </p:cNvSpPr>
          <p:nvPr/>
        </p:nvSpPr>
        <p:spPr>
          <a:xfrm>
            <a:off x="628650" y="49339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5000" lnSpcReduction="20000"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Primary loading route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B42923-5628-4C8F-BA3A-7BC9551E155B}"/>
              </a:ext>
            </a:extLst>
          </p:cNvPr>
          <p:cNvSpPr>
            <a:spLocks noGrp="1"/>
          </p:cNvSpPr>
          <p:nvPr/>
        </p:nvSpPr>
        <p:spPr>
          <a:xfrm>
            <a:off x="628650" y="52387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3848" lnSpcReduction="20000"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UTM displacement control; shake-table loading remains an optional extension.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6785620-213D-4D2C-827D-E59AE3BFBBB4}"/>
              </a:ext>
            </a:extLst>
          </p:cNvPr>
          <p:cNvSpPr>
            <a:spLocks noGrp="1"/>
          </p:cNvSpPr>
          <p:nvPr/>
        </p:nvSpPr>
        <p:spPr>
          <a:xfrm>
            <a:off x="6000750" y="4762500"/>
            <a:ext cx="5772150" cy="1066800"/>
          </a:xfrm>
          <a:prstGeom prst="roundRect">
            <a:avLst>
              <a:gd name="adj" fmla="val 10714"/>
            </a:avLst>
          </a:prstGeom>
          <a:solidFill>
            <a:srgbClr val="F1ECFF"/>
          </a:solidFill>
          <a:ln w="0">
            <a:solidFill>
              <a:srgbClr val="F1ECFF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8F5762-9A09-4CEF-8272-52143A04AF17}"/>
              </a:ext>
            </a:extLst>
          </p:cNvPr>
          <p:cNvSpPr>
            <a:spLocks noGrp="1"/>
          </p:cNvSpPr>
          <p:nvPr/>
        </p:nvSpPr>
        <p:spPr>
          <a:xfrm>
            <a:off x="6210300" y="49339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5000" lnSpcReduction="20000"/>
          </a:bodyPr>
          <a:lstStyle/>
          <a:p>
            <a:pPr algn="l">
              <a:buNone/>
              <a:defRPr sz="120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Primary response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33AAAA-3986-4177-A91D-348E35E49A31}"/>
              </a:ext>
            </a:extLst>
          </p:cNvPr>
          <p:cNvSpPr>
            <a:spLocks noGrp="1"/>
          </p:cNvSpPr>
          <p:nvPr/>
        </p:nvSpPr>
        <p:spPr>
          <a:xfrm>
            <a:off x="6210300" y="52387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2292" lnSpcReduction="20000"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Water sorptivity—not chloride ingress—paired with α, w and θ for held-out model comparison.</a:t>
            </a:r>
          </a:p>
        </p:txBody>
      </p:sp>
    </p:spTree>
    <p:extLst>
      <p:ext uri="{BB962C8B-B14F-4D97-AF65-F5344CB8AC3E}">
        <p14:creationId xmlns:p14="http://schemas.microsoft.com/office/powerpoint/2010/main" val="1169996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9BB3A36-8DD8-4DBF-87AF-6B664BB9022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What we have learned computationally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8BE6F9-6A22-462D-917A-FE4094BE1814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EB151C-942E-4487-A346-13A2E2E4E2B7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AAF7B41-FB9A-4D14-BCB1-257FA6FD5A86}"/>
              </a:ext>
            </a:extLst>
          </p:cNvPr>
          <p:cNvSpPr>
            <a:spLocks noGrp="1"/>
          </p:cNvSpPr>
          <p:nvPr/>
        </p:nvSpPr>
        <p:spPr>
          <a:xfrm>
            <a:off x="419100" y="1562100"/>
            <a:ext cx="35433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747BCE-8D98-4B84-BE79-40D31DF3372B}"/>
              </a:ext>
            </a:extLst>
          </p:cNvPr>
          <p:cNvSpPr>
            <a:spLocks noGrp="1"/>
          </p:cNvSpPr>
          <p:nvPr/>
        </p:nvSpPr>
        <p:spPr>
          <a:xfrm>
            <a:off x="647700" y="1847850"/>
            <a:ext cx="3086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435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F3A273-EE55-4E16-8793-62545B452EDA}"/>
              </a:ext>
            </a:extLst>
          </p:cNvPr>
          <p:cNvSpPr>
            <a:spLocks noGrp="1"/>
          </p:cNvSpPr>
          <p:nvPr/>
        </p:nvSpPr>
        <p:spPr>
          <a:xfrm>
            <a:off x="647700" y="27241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7917" lnSpcReduction="10000"/>
          </a:bodyPr>
          <a:lstStyle/>
          <a:p>
            <a:pPr algn="ctr">
              <a:buNone/>
              <a:defRPr sz="112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SENSORS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CC4DCC-A923-43F2-A3C6-96DECA775D6D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2552700" cy="19050"/>
          </a:xfrm>
          <a:prstGeom prst="rect">
            <a:avLst/>
          </a:prstGeom>
          <a:solidFill>
            <a:srgbClr val="E9EEF4"/>
          </a:solidFill>
          <a:ln w="0">
            <a:solidFill>
              <a:srgbClr val="E9EEF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18E2BC-992B-4FD4-AA1E-0C3B740291AE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8956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1458" lnSpcReduction="10000"/>
          </a:bodyPr>
          <a:lstStyle/>
          <a:p>
            <a:pPr algn="ctr">
              <a:buNone/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Mode shapes break the left/right symmetry; extra channels gave little precision gain in the 3-parameter portal study.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8DACE35-D09C-4288-B5B7-2BA1BA06C182}"/>
              </a:ext>
            </a:extLst>
          </p:cNvPr>
          <p:cNvSpPr>
            <a:spLocks noGrp="1"/>
          </p:cNvSpPr>
          <p:nvPr/>
        </p:nvSpPr>
        <p:spPr>
          <a:xfrm>
            <a:off x="4200525" y="1562100"/>
            <a:ext cx="35433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EB301-375A-4FCE-8DF7-177CCEFF0ACE}"/>
              </a:ext>
            </a:extLst>
          </p:cNvPr>
          <p:cNvSpPr>
            <a:spLocks noGrp="1"/>
          </p:cNvSpPr>
          <p:nvPr/>
        </p:nvSpPr>
        <p:spPr>
          <a:xfrm>
            <a:off x="4429125" y="1847850"/>
            <a:ext cx="3086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435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19 / 21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5E5706-883A-4554-8219-3BE4385DAF17}"/>
              </a:ext>
            </a:extLst>
          </p:cNvPr>
          <p:cNvSpPr>
            <a:spLocks noGrp="1"/>
          </p:cNvSpPr>
          <p:nvPr/>
        </p:nvSpPr>
        <p:spPr>
          <a:xfrm>
            <a:off x="4429125" y="27241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7917" lnSpcReduction="10000"/>
          </a:bodyPr>
          <a:lstStyle/>
          <a:p>
            <a:pPr algn="ctr">
              <a:buNone/>
              <a:defRPr sz="112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MEMBERS SEPARABLE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F9201B-F741-4855-B5FA-C83D83921346}"/>
              </a:ext>
            </a:extLst>
          </p:cNvPr>
          <p:cNvSpPr>
            <a:spLocks noGrp="1"/>
          </p:cNvSpPr>
          <p:nvPr/>
        </p:nvSpPr>
        <p:spPr>
          <a:xfrm>
            <a:off x="4695825" y="3143250"/>
            <a:ext cx="2552700" cy="19050"/>
          </a:xfrm>
          <a:prstGeom prst="rect">
            <a:avLst/>
          </a:prstGeom>
          <a:solidFill>
            <a:srgbClr val="E9EEF4"/>
          </a:solidFill>
          <a:ln w="0">
            <a:solidFill>
              <a:srgbClr val="E9EEF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FDCC0-08CC-4E2A-8034-2C35B741E7FC}"/>
              </a:ext>
            </a:extLst>
          </p:cNvPr>
          <p:cNvSpPr>
            <a:spLocks noGrp="1"/>
          </p:cNvSpPr>
          <p:nvPr/>
        </p:nvSpPr>
        <p:spPr>
          <a:xfrm>
            <a:off x="4524375" y="3371850"/>
            <a:ext cx="28956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517" lnSpcReduction="10000"/>
          </a:bodyPr>
          <a:lstStyle/>
          <a:p>
            <a:pPr algn="ctr">
              <a:buNone/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 sparse prior reduced mean posterior SD from 0.164 to 0.096 in the illustrative 21-member case.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150FF8-FB89-4116-8519-0C4D831D1DFA}"/>
              </a:ext>
            </a:extLst>
          </p:cNvPr>
          <p:cNvSpPr>
            <a:spLocks noGrp="1"/>
          </p:cNvSpPr>
          <p:nvPr/>
        </p:nvSpPr>
        <p:spPr>
          <a:xfrm>
            <a:off x="7981950" y="1562100"/>
            <a:ext cx="35433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148702-056B-463F-8A6A-BF636D053F40}"/>
              </a:ext>
            </a:extLst>
          </p:cNvPr>
          <p:cNvSpPr>
            <a:spLocks noGrp="1"/>
          </p:cNvSpPr>
          <p:nvPr/>
        </p:nvSpPr>
        <p:spPr>
          <a:xfrm>
            <a:off x="8210550" y="1847850"/>
            <a:ext cx="30861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4350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C9C579-A1D8-4974-9173-161EBB2B2031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7917" lnSpcReduction="10000"/>
          </a:bodyPr>
          <a:lstStyle/>
          <a:p>
            <a:pPr algn="ctr">
              <a:buNone/>
              <a:defRPr sz="112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INDEPENDENT SEEDS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887BE1-63EC-4BCC-A0E5-55454B1CE73D}"/>
              </a:ext>
            </a:extLst>
          </p:cNvPr>
          <p:cNvSpPr>
            <a:spLocks noGrp="1"/>
          </p:cNvSpPr>
          <p:nvPr/>
        </p:nvSpPr>
        <p:spPr>
          <a:xfrm>
            <a:off x="8477250" y="3143250"/>
            <a:ext cx="2552700" cy="19050"/>
          </a:xfrm>
          <a:prstGeom prst="rect">
            <a:avLst/>
          </a:prstGeom>
          <a:solidFill>
            <a:srgbClr val="E9EEF4"/>
          </a:solidFill>
          <a:ln w="0">
            <a:solidFill>
              <a:srgbClr val="E9EEF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CD1D1A-7208-4E16-A4C8-8EFBC56FD34A}"/>
              </a:ext>
            </a:extLst>
          </p:cNvPr>
          <p:cNvSpPr>
            <a:spLocks noGrp="1"/>
          </p:cNvSpPr>
          <p:nvPr/>
        </p:nvSpPr>
        <p:spPr>
          <a:xfrm>
            <a:off x="8305800" y="3371850"/>
            <a:ext cx="28956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1973" lnSpcReduction="10000"/>
          </a:bodyPr>
          <a:lstStyle/>
          <a:p>
            <a:pPr algn="ctr">
              <a:buNone/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Flat, sparse and oracle planning distributions were tested rather than judged from one annealing run.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062AF67-44AC-42DB-8444-28E4A9A5B50D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10439400" cy="876300"/>
          </a:xfrm>
          <a:prstGeom prst="roundRect">
            <a:avLst>
              <a:gd name="adj" fmla="val 13043"/>
            </a:avLst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324D9E-F28E-4F6B-B592-35B2456CE2CB}"/>
              </a:ext>
            </a:extLst>
          </p:cNvPr>
          <p:cNvSpPr>
            <a:spLocks noGrp="1"/>
          </p:cNvSpPr>
          <p:nvPr/>
        </p:nvSpPr>
        <p:spPr>
          <a:xfrm>
            <a:off x="1104900" y="52197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5000" lnSpcReduction="20000"/>
          </a:bodyPr>
          <a:lstStyle/>
          <a:p>
            <a:pPr algn="l">
              <a:buNone/>
              <a:defRPr sz="1125" b="1">
                <a:solidFill>
                  <a:srgbClr val="6DCBF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6DCBF4"/>
                </a:solidFill>
                <a:latin typeface="Times New Roman"/>
                <a:ea typeface="Times New Roman"/>
                <a:cs typeface="Times New Roman"/>
              </a:rPr>
              <a:t>Design consequence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C02C3E-85DC-42D2-83D6-5BB1BC8C05D0}"/>
              </a:ext>
            </a:extLst>
          </p:cNvPr>
          <p:cNvSpPr>
            <a:spLocks noGrp="1"/>
          </p:cNvSpPr>
          <p:nvPr/>
        </p:nvSpPr>
        <p:spPr>
          <a:xfrm>
            <a:off x="2895600" y="5191125"/>
            <a:ext cx="815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7500" lnSpcReduction="20000"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Measure better, parameterise by physical member, retain covariance, and report solver distributions—not a single favourable run.</a:t>
            </a:r>
          </a:p>
        </p:txBody>
      </p:sp>
    </p:spTree>
    <p:extLst>
      <p:ext uri="{BB962C8B-B14F-4D97-AF65-F5344CB8AC3E}">
        <p14:creationId xmlns:p14="http://schemas.microsoft.com/office/powerpoint/2010/main" val="955911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342B776-E4C5-4C9C-8075-95A3280EC892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Work done · executable evidence already produced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A60784-2EDD-46C5-919C-4AA822120168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7E950E-7268-4A8E-813C-41D2A8AC0D75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1F0102-FEED-4B54-98C2-3023C0F8D4C8}"/>
              </a:ext>
            </a:extLst>
          </p:cNvPr>
          <p:cNvSpPr>
            <a:spLocks noGrp="1"/>
          </p:cNvSpPr>
          <p:nvPr/>
        </p:nvSpPr>
        <p:spPr>
          <a:xfrm>
            <a:off x="419100" y="1466850"/>
            <a:ext cx="4514850" cy="443865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5FBFE5-4E75-45AA-9C58-10C481CA2E59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247650" cy="24765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D1EEA-0DC5-4819-9B1E-20A0AC100F53}"/>
              </a:ext>
            </a:extLst>
          </p:cNvPr>
          <p:cNvSpPr>
            <a:spLocks noGrp="1"/>
          </p:cNvSpPr>
          <p:nvPr/>
        </p:nvSpPr>
        <p:spPr>
          <a:xfrm>
            <a:off x="628650" y="173355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E2FA6C-54D3-4546-BA5E-2ED9E020FC98}"/>
              </a:ext>
            </a:extLst>
          </p:cNvPr>
          <p:cNvSpPr>
            <a:spLocks noGrp="1"/>
          </p:cNvSpPr>
          <p:nvPr/>
        </p:nvSpPr>
        <p:spPr>
          <a:xfrm>
            <a:off x="1009650" y="16954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4270" lnSpcReduction="20000"/>
          </a:bodyPr>
          <a:lstStyle/>
          <a:p>
            <a:pPr algn="l">
              <a:buNone/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Portal-frame FE model and modal benchmark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B3D38D-D41F-4CAA-868F-D0D464FC0D4E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247650" cy="24765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C44023-EA24-43E3-943B-2ED2C53C1B49}"/>
              </a:ext>
            </a:extLst>
          </p:cNvPr>
          <p:cNvSpPr>
            <a:spLocks noGrp="1"/>
          </p:cNvSpPr>
          <p:nvPr/>
        </p:nvSpPr>
        <p:spPr>
          <a:xfrm>
            <a:off x="628650" y="228600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64A55B-D669-46D1-906C-C41A0AF2AC1C}"/>
              </a:ext>
            </a:extLst>
          </p:cNvPr>
          <p:cNvSpPr>
            <a:spLocks noGrp="1"/>
          </p:cNvSpPr>
          <p:nvPr/>
        </p:nvSpPr>
        <p:spPr>
          <a:xfrm>
            <a:off x="1009650" y="224790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45561" lnSpcReduction="20000"/>
          </a:bodyPr>
          <a:lstStyle/>
          <a:p>
            <a:pPr algn="l">
              <a:buNone/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Fisher-information sensor and parameterisation study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89D159-CF46-43E8-A923-ABE4723E0D0A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247650" cy="24765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E28E62-97DB-43B3-8701-A032B7593329}"/>
              </a:ext>
            </a:extLst>
          </p:cNvPr>
          <p:cNvSpPr>
            <a:spLocks noGrp="1"/>
          </p:cNvSpPr>
          <p:nvPr/>
        </p:nvSpPr>
        <p:spPr>
          <a:xfrm>
            <a:off x="628650" y="283845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732738-8995-46C6-92A1-024502C049E2}"/>
              </a:ext>
            </a:extLst>
          </p:cNvPr>
          <p:cNvSpPr>
            <a:spLocks noGrp="1"/>
          </p:cNvSpPr>
          <p:nvPr/>
        </p:nvSpPr>
        <p:spPr>
          <a:xfrm>
            <a:off x="1009650" y="28003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41186" lnSpcReduction="20000"/>
          </a:bodyPr>
          <a:lstStyle/>
          <a:p>
            <a:pPr algn="l">
              <a:buNone/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Sparse Bayesian member-state estimation with covariance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DF3F00-6196-4BBE-9083-8C7BE9025613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247650" cy="24765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DD0CEB-2B1A-4263-B4DD-A9DCF2A983E1}"/>
              </a:ext>
            </a:extLst>
          </p:cNvPr>
          <p:cNvSpPr>
            <a:spLocks noGrp="1"/>
          </p:cNvSpPr>
          <p:nvPr/>
        </p:nvSpPr>
        <p:spPr>
          <a:xfrm>
            <a:off x="628650" y="339090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41A7B1-8C57-4A4C-B0EA-9C9F41D8649E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42127" lnSpcReduction="20000"/>
          </a:bodyPr>
          <a:lstStyle/>
          <a:p>
            <a:pPr algn="l">
              <a:buNone/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21-member, 6-period decision instance: 504 primary / 678 total bits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64CF1E-332F-4375-99CA-991B94269350}"/>
              </a:ext>
            </a:extLst>
          </p:cNvPr>
          <p:cNvSpPr>
            <a:spLocks noGrp="1"/>
          </p:cNvSpPr>
          <p:nvPr/>
        </p:nvSpPr>
        <p:spPr>
          <a:xfrm>
            <a:off x="628650" y="3924300"/>
            <a:ext cx="247650" cy="24765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0396A0-3D97-459B-8669-7C439438F64F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49DB40-5D68-4601-BC73-D40E04A1F676}"/>
              </a:ext>
            </a:extLst>
          </p:cNvPr>
          <p:cNvSpPr>
            <a:spLocks noGrp="1"/>
          </p:cNvSpPr>
          <p:nvPr/>
        </p:nvSpPr>
        <p:spPr>
          <a:xfrm>
            <a:off x="1009650" y="39052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4314" lnSpcReduction="10000"/>
          </a:bodyPr>
          <a:lstStyle/>
          <a:p>
            <a:pPr algn="l">
              <a:buNone/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dirty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Independent feasibility checker and penalty negative control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38CC5A-E468-422D-9340-0158483B8382}"/>
              </a:ext>
            </a:extLst>
          </p:cNvPr>
          <p:cNvSpPr>
            <a:spLocks noGrp="1"/>
          </p:cNvSpPr>
          <p:nvPr/>
        </p:nvSpPr>
        <p:spPr>
          <a:xfrm>
            <a:off x="628650" y="4476750"/>
            <a:ext cx="247650" cy="24765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5EFA02-C182-48FB-A6A0-F9A0D8638140}"/>
              </a:ext>
            </a:extLst>
          </p:cNvPr>
          <p:cNvSpPr>
            <a:spLocks noGrp="1"/>
          </p:cNvSpPr>
          <p:nvPr/>
        </p:nvSpPr>
        <p:spPr>
          <a:xfrm>
            <a:off x="628650" y="449580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4B7B7A-5F6C-466E-877B-175D8D48B19B}"/>
              </a:ext>
            </a:extLst>
          </p:cNvPr>
          <p:cNvSpPr>
            <a:spLocks noGrp="1"/>
          </p:cNvSpPr>
          <p:nvPr/>
        </p:nvSpPr>
        <p:spPr>
          <a:xfrm>
            <a:off x="1009650" y="445770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2123" lnSpcReduction="10000"/>
          </a:bodyPr>
          <a:lstStyle/>
          <a:p>
            <a:pPr algn="l">
              <a:buNone/>
              <a:defRPr sz="1275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Exact MILP benchmark + exact enumeration ladder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E7902B-E610-4F28-ACFC-1CB638E6BFDB}"/>
              </a:ext>
            </a:extLst>
          </p:cNvPr>
          <p:cNvSpPr>
            <a:spLocks noGrp="1"/>
          </p:cNvSpPr>
          <p:nvPr/>
        </p:nvSpPr>
        <p:spPr>
          <a:xfrm>
            <a:off x="628650" y="5029200"/>
            <a:ext cx="247650" cy="24765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ED3406-5F82-4590-B0FA-F2A125CFB6BD}"/>
              </a:ext>
            </a:extLst>
          </p:cNvPr>
          <p:cNvSpPr>
            <a:spLocks noGrp="1"/>
          </p:cNvSpPr>
          <p:nvPr/>
        </p:nvSpPr>
        <p:spPr>
          <a:xfrm>
            <a:off x="628650" y="504825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208983-94B9-4F3A-8D14-70B7B189BF4B}"/>
              </a:ext>
            </a:extLst>
          </p:cNvPr>
          <p:cNvSpPr>
            <a:spLocks noGrp="1"/>
          </p:cNvSpPr>
          <p:nvPr/>
        </p:nvSpPr>
        <p:spPr>
          <a:xfrm>
            <a:off x="1009650" y="50101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42" lnSpcReduction="10000"/>
          </a:bodyPr>
          <a:lstStyle/>
          <a:p>
            <a:pPr algn="l">
              <a:buNone/>
              <a:def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50-seed prior/oracle planning diagnosis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3BD58F2-9C2D-40BA-BA8C-B303B3D15D83}"/>
              </a:ext>
            </a:extLst>
          </p:cNvPr>
          <p:cNvSpPr>
            <a:spLocks noGrp="1"/>
          </p:cNvSpPr>
          <p:nvPr/>
        </p:nvSpPr>
        <p:spPr>
          <a:xfrm>
            <a:off x="5181600" y="1466850"/>
            <a:ext cx="6591300" cy="21717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pic>
        <p:nvPicPr>
          <p:cNvPr id="60" name="Picture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64647" y="1581150"/>
            <a:ext cx="3825206" cy="1943100"/>
          </a:xfrm>
          <a:prstGeom prst="rect">
            <a:avLst/>
          </a:prstGeom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1C37DF1-4BFE-4A2E-A851-FDACA6E385A2}"/>
              </a:ext>
            </a:extLst>
          </p:cNvPr>
          <p:cNvSpPr>
            <a:spLocks noGrp="1"/>
          </p:cNvSpPr>
          <p:nvPr/>
        </p:nvSpPr>
        <p:spPr>
          <a:xfrm>
            <a:off x="5181600" y="3810000"/>
            <a:ext cx="65913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pic>
        <p:nvPicPr>
          <p:cNvPr id="62" name="Picture 5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05986" y="3924300"/>
            <a:ext cx="3342527" cy="18097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9B3ECD0-2A9C-40E7-BD61-0911B419C070}"/>
              </a:ext>
            </a:extLst>
          </p:cNvPr>
          <p:cNvSpPr>
            <a:spLocks noGrp="1"/>
          </p:cNvSpPr>
          <p:nvPr/>
        </p:nvSpPr>
        <p:spPr>
          <a:xfrm>
            <a:off x="5334000" y="5657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33642" lnSpcReduction="20000"/>
          </a:bodyPr>
          <a:lstStyle/>
          <a:p>
            <a:pPr algn="ctr">
              <a:buNone/>
              <a:defRPr sz="975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Verification evidence: exact optimum is known only on reduced ladders; full-scale QUBO optimality is benchmarked against exact MILP.</a:t>
            </a:r>
          </a:p>
        </p:txBody>
      </p:sp>
    </p:spTree>
    <p:extLst>
      <p:ext uri="{BB962C8B-B14F-4D97-AF65-F5344CB8AC3E}">
        <p14:creationId xmlns:p14="http://schemas.microsoft.com/office/powerpoint/2010/main" val="1658560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CD7D384C-0EDA-4BE1-822E-3F2C11A37E2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Work to be done · experimental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7E2FAE-25A9-42C9-803C-675AEBEF9B8B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B86CB4-633D-4B0D-B368-D2A139640AC6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2DDEE61-BB35-40EE-8B01-A76F9284C359}"/>
              </a:ext>
            </a:extLst>
          </p:cNvPr>
          <p:cNvSpPr>
            <a:spLocks noGrp="1"/>
          </p:cNvSpPr>
          <p:nvPr/>
        </p:nvSpPr>
        <p:spPr>
          <a:xfrm>
            <a:off x="419100" y="1504950"/>
            <a:ext cx="3543300" cy="41529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9D0DF9-9202-487D-95B7-2260A3950C26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962150" cy="285750"/>
          </a:xfrm>
          <a:prstGeom prst="roundRect">
            <a:avLst>
              <a:gd name="adj" fmla="val 50000"/>
            </a:avLst>
          </a:prstGeom>
          <a:solidFill>
            <a:srgbClr val="3D8DFF">
              <a:alpha val="13333"/>
            </a:srgbClr>
          </a:solidFill>
          <a:ln w="0">
            <a:solidFill>
              <a:srgbClr val="3D8DFF">
                <a:alpha val="13333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214F1-0C2E-4B23-8ADA-86471BB2116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4583" lnSpcReduction="20000"/>
          </a:bodyPr>
          <a:lstStyle/>
          <a:p>
            <a:pPr algn="ctr">
              <a:buNone/>
              <a:def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NOW → OCT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10F3CD-690F-47E4-8773-23B5A1FC7AD1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3162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083" lnSpcReduction="10000"/>
          </a:bodyPr>
          <a:lstStyle/>
          <a:p>
            <a:pPr algn="l">
              <a:buNone/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Freeze experiment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B66692-BF72-4B16-9FFE-7C374702E3B5}"/>
              </a:ext>
            </a:extLst>
          </p:cNvPr>
          <p:cNvSpPr>
            <a:spLocks noGrp="1"/>
          </p:cNvSpPr>
          <p:nvPr/>
        </p:nvSpPr>
        <p:spPr>
          <a:xfrm>
            <a:off x="628650" y="2981325"/>
            <a:ext cx="190500" cy="1905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721546-1821-415D-9194-B17D7C47035F}"/>
              </a:ext>
            </a:extLst>
          </p:cNvPr>
          <p:cNvSpPr>
            <a:spLocks noGrp="1"/>
          </p:cNvSpPr>
          <p:nvPr/>
        </p:nvSpPr>
        <p:spPr>
          <a:xfrm>
            <a:off x="628650" y="300037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85E178-081F-499B-851B-E4C460C5438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0292" lnSpcReduction="2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Specimen and damage-grade design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710A49-88E9-4547-9F9D-DD76E0C278FC}"/>
              </a:ext>
            </a:extLst>
          </p:cNvPr>
          <p:cNvSpPr>
            <a:spLocks noGrp="1"/>
          </p:cNvSpPr>
          <p:nvPr/>
        </p:nvSpPr>
        <p:spPr>
          <a:xfrm>
            <a:off x="628650" y="3571875"/>
            <a:ext cx="190500" cy="1905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2903C2-38B8-4711-A950-5AB88C7540A1}"/>
              </a:ext>
            </a:extLst>
          </p:cNvPr>
          <p:cNvSpPr>
            <a:spLocks noGrp="1"/>
          </p:cNvSpPr>
          <p:nvPr/>
        </p:nvSpPr>
        <p:spPr>
          <a:xfrm>
            <a:off x="628650" y="359092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7EE289-17F9-481F-A595-598722923096}"/>
              </a:ext>
            </a:extLst>
          </p:cNvPr>
          <p:cNvSpPr>
            <a:spLocks noGrp="1"/>
          </p:cNvSpPr>
          <p:nvPr/>
        </p:nvSpPr>
        <p:spPr>
          <a:xfrm>
            <a:off x="952500" y="35433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42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Sensor clock and OMA protocol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90574D-8BAF-417D-B80B-6D5A7C27D07C}"/>
              </a:ext>
            </a:extLst>
          </p:cNvPr>
          <p:cNvSpPr>
            <a:spLocks noGrp="1"/>
          </p:cNvSpPr>
          <p:nvPr/>
        </p:nvSpPr>
        <p:spPr>
          <a:xfrm>
            <a:off x="628650" y="4162425"/>
            <a:ext cx="190500" cy="1905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41568D-E75B-49DB-9892-7D5C6255003F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19F749-392F-47F1-BF8B-D995D7AD87CE}"/>
              </a:ext>
            </a:extLst>
          </p:cNvPr>
          <p:cNvSpPr>
            <a:spLocks noGrp="1"/>
          </p:cNvSpPr>
          <p:nvPr/>
        </p:nvSpPr>
        <p:spPr>
          <a:xfrm>
            <a:off x="952500" y="41338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4473" lnSpcReduction="2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Imaging calibration + uncertainty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272806-4A56-48A7-9FDD-22859DD1D3A1}"/>
              </a:ext>
            </a:extLst>
          </p:cNvPr>
          <p:cNvSpPr>
            <a:spLocks noGrp="1"/>
          </p:cNvSpPr>
          <p:nvPr/>
        </p:nvSpPr>
        <p:spPr>
          <a:xfrm>
            <a:off x="628650" y="4752975"/>
            <a:ext cx="190500" cy="1905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0CB6B7-44C5-4ED6-8172-655898DC224C}"/>
              </a:ext>
            </a:extLst>
          </p:cNvPr>
          <p:cNvSpPr>
            <a:spLocks noGrp="1"/>
          </p:cNvSpPr>
          <p:nvPr/>
        </p:nvSpPr>
        <p:spPr>
          <a:xfrm>
            <a:off x="628650" y="477202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345450-3244-46BF-8DB9-BA882ED6E8B5}"/>
              </a:ext>
            </a:extLst>
          </p:cNvPr>
          <p:cNvSpPr>
            <a:spLocks noGrp="1"/>
          </p:cNvSpPr>
          <p:nvPr/>
        </p:nvSpPr>
        <p:spPr>
          <a:xfrm>
            <a:off x="952500" y="47244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42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Pre-register nested M models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C2884EC-FDC0-407F-8C22-975F8A7DEA43}"/>
              </a:ext>
            </a:extLst>
          </p:cNvPr>
          <p:cNvSpPr>
            <a:spLocks noGrp="1"/>
          </p:cNvSpPr>
          <p:nvPr/>
        </p:nvSpPr>
        <p:spPr>
          <a:xfrm>
            <a:off x="4200525" y="1504950"/>
            <a:ext cx="3543300" cy="41529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1D12432-DB4D-41C9-9503-1648B6FAEAE7}"/>
              </a:ext>
            </a:extLst>
          </p:cNvPr>
          <p:cNvSpPr>
            <a:spLocks noGrp="1"/>
          </p:cNvSpPr>
          <p:nvPr/>
        </p:nvSpPr>
        <p:spPr>
          <a:xfrm>
            <a:off x="4391025" y="1714500"/>
            <a:ext cx="1962150" cy="285750"/>
          </a:xfrm>
          <a:prstGeom prst="roundRect">
            <a:avLst>
              <a:gd name="adj" fmla="val 50000"/>
            </a:avLst>
          </a:prstGeom>
          <a:solidFill>
            <a:srgbClr val="6B4BB0">
              <a:alpha val="13333"/>
            </a:srgbClr>
          </a:solidFill>
          <a:ln w="0">
            <a:solidFill>
              <a:srgbClr val="6B4BB0">
                <a:alpha val="13333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929169-8AFF-452F-B8A1-E173AF40D170}"/>
              </a:ext>
            </a:extLst>
          </p:cNvPr>
          <p:cNvSpPr>
            <a:spLocks noGrp="1"/>
          </p:cNvSpPr>
          <p:nvPr/>
        </p:nvSpPr>
        <p:spPr>
          <a:xfrm>
            <a:off x="4467225" y="17621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4583" lnSpcReduction="20000"/>
          </a:bodyPr>
          <a:lstStyle/>
          <a:p>
            <a:pPr algn="ctr">
              <a:buNone/>
              <a:def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NOV 2026 → JAN 2027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03C14-ED0C-4E36-843B-9996317DC173}"/>
              </a:ext>
            </a:extLst>
          </p:cNvPr>
          <p:cNvSpPr>
            <a:spLocks noGrp="1"/>
          </p:cNvSpPr>
          <p:nvPr/>
        </p:nvSpPr>
        <p:spPr>
          <a:xfrm>
            <a:off x="4391025" y="2266950"/>
            <a:ext cx="3162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083" lnSpcReduction="10000"/>
          </a:bodyPr>
          <a:lstStyle/>
          <a:p>
            <a:pPr algn="l">
              <a:buNone/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Run campaign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48A8F14-11E1-4D4A-AE8C-43B64F7E64B8}"/>
              </a:ext>
            </a:extLst>
          </p:cNvPr>
          <p:cNvSpPr>
            <a:spLocks noGrp="1"/>
          </p:cNvSpPr>
          <p:nvPr/>
        </p:nvSpPr>
        <p:spPr>
          <a:xfrm>
            <a:off x="4410075" y="2981325"/>
            <a:ext cx="190500" cy="190500"/>
          </a:xfrm>
          <a:prstGeom prst="ellipse">
            <a:avLst/>
          </a:prstGeom>
          <a:solidFill>
            <a:srgbClr val="6B4BB0"/>
          </a:solidFill>
          <a:ln w="0">
            <a:solidFill>
              <a:srgbClr val="6B4BB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BF187D-4BF6-4BFC-BED4-4D1D91D5C778}"/>
              </a:ext>
            </a:extLst>
          </p:cNvPr>
          <p:cNvSpPr>
            <a:spLocks noGrp="1"/>
          </p:cNvSpPr>
          <p:nvPr/>
        </p:nvSpPr>
        <p:spPr>
          <a:xfrm>
            <a:off x="4410075" y="300037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AA9AAE-D4B8-45CC-8D66-6D83290308E4}"/>
              </a:ext>
            </a:extLst>
          </p:cNvPr>
          <p:cNvSpPr>
            <a:spLocks noGrp="1"/>
          </p:cNvSpPr>
          <p:nvPr/>
        </p:nvSpPr>
        <p:spPr>
          <a:xfrm>
            <a:off x="4733925" y="29527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42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Cast and cure specimens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6D83019-9475-4274-8395-88CB3F331DB4}"/>
              </a:ext>
            </a:extLst>
          </p:cNvPr>
          <p:cNvSpPr>
            <a:spLocks noGrp="1"/>
          </p:cNvSpPr>
          <p:nvPr/>
        </p:nvSpPr>
        <p:spPr>
          <a:xfrm>
            <a:off x="4410075" y="3571875"/>
            <a:ext cx="190500" cy="190500"/>
          </a:xfrm>
          <a:prstGeom prst="ellipse">
            <a:avLst/>
          </a:prstGeom>
          <a:solidFill>
            <a:srgbClr val="6B4BB0"/>
          </a:solidFill>
          <a:ln w="0">
            <a:solidFill>
              <a:srgbClr val="6B4BB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350DFF-1174-43DC-9932-5A18B1EE3ED0}"/>
              </a:ext>
            </a:extLst>
          </p:cNvPr>
          <p:cNvSpPr>
            <a:spLocks noGrp="1"/>
          </p:cNvSpPr>
          <p:nvPr/>
        </p:nvSpPr>
        <p:spPr>
          <a:xfrm>
            <a:off x="4410075" y="359092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74BBA0-3841-4853-9A57-B64A6FE15D6B}"/>
              </a:ext>
            </a:extLst>
          </p:cNvPr>
          <p:cNvSpPr>
            <a:spLocks noGrp="1"/>
          </p:cNvSpPr>
          <p:nvPr/>
        </p:nvSpPr>
        <p:spPr>
          <a:xfrm>
            <a:off x="4733925" y="35433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42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Baseline modal characterisation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F5638FF-936B-488A-B591-E889E49DC13C}"/>
              </a:ext>
            </a:extLst>
          </p:cNvPr>
          <p:cNvSpPr>
            <a:spLocks noGrp="1"/>
          </p:cNvSpPr>
          <p:nvPr/>
        </p:nvSpPr>
        <p:spPr>
          <a:xfrm>
            <a:off x="4410075" y="4162425"/>
            <a:ext cx="190500" cy="190500"/>
          </a:xfrm>
          <a:prstGeom prst="ellipse">
            <a:avLst/>
          </a:prstGeom>
          <a:solidFill>
            <a:srgbClr val="6B4BB0"/>
          </a:solidFill>
          <a:ln w="0">
            <a:solidFill>
              <a:srgbClr val="6B4BB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0BC1C3-676E-4582-A6F3-D0855C1370FF}"/>
              </a:ext>
            </a:extLst>
          </p:cNvPr>
          <p:cNvSpPr>
            <a:spLocks noGrp="1"/>
          </p:cNvSpPr>
          <p:nvPr/>
        </p:nvSpPr>
        <p:spPr>
          <a:xfrm>
            <a:off x="4410075" y="418147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7CE13D-77CB-4DE9-AE48-EA81C16DEF36}"/>
              </a:ext>
            </a:extLst>
          </p:cNvPr>
          <p:cNvSpPr>
            <a:spLocks noGrp="1"/>
          </p:cNvSpPr>
          <p:nvPr/>
        </p:nvSpPr>
        <p:spPr>
          <a:xfrm>
            <a:off x="4733925" y="41338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42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Controlled graded damage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A26C262-13A5-4E21-9D25-C1B6462BD07E}"/>
              </a:ext>
            </a:extLst>
          </p:cNvPr>
          <p:cNvSpPr>
            <a:spLocks noGrp="1"/>
          </p:cNvSpPr>
          <p:nvPr/>
        </p:nvSpPr>
        <p:spPr>
          <a:xfrm>
            <a:off x="4410075" y="4752975"/>
            <a:ext cx="190500" cy="190500"/>
          </a:xfrm>
          <a:prstGeom prst="ellipse">
            <a:avLst/>
          </a:prstGeom>
          <a:solidFill>
            <a:srgbClr val="6B4BB0"/>
          </a:solidFill>
          <a:ln w="0">
            <a:solidFill>
              <a:srgbClr val="6B4BB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6667E0-A33A-4FE8-8DBA-3C8FDDC0AA18}"/>
              </a:ext>
            </a:extLst>
          </p:cNvPr>
          <p:cNvSpPr>
            <a:spLocks noGrp="1"/>
          </p:cNvSpPr>
          <p:nvPr/>
        </p:nvSpPr>
        <p:spPr>
          <a:xfrm>
            <a:off x="4410075" y="477202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DD7529-F9AE-4ED2-8A67-6BAB8193990E}"/>
              </a:ext>
            </a:extLst>
          </p:cNvPr>
          <p:cNvSpPr>
            <a:spLocks noGrp="1"/>
          </p:cNvSpPr>
          <p:nvPr/>
        </p:nvSpPr>
        <p:spPr>
          <a:xfrm>
            <a:off x="4733925" y="47244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42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Crack survey and sorptivity tests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5554483-0D02-40E9-BB73-45B2EA6A0BDC}"/>
              </a:ext>
            </a:extLst>
          </p:cNvPr>
          <p:cNvSpPr>
            <a:spLocks noGrp="1"/>
          </p:cNvSpPr>
          <p:nvPr/>
        </p:nvSpPr>
        <p:spPr>
          <a:xfrm>
            <a:off x="7981950" y="1504950"/>
            <a:ext cx="3543300" cy="41529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A785458-7B65-4C57-96A1-2C8E6053433F}"/>
              </a:ext>
            </a:extLst>
          </p:cNvPr>
          <p:cNvSpPr>
            <a:spLocks noGrp="1"/>
          </p:cNvSpPr>
          <p:nvPr/>
        </p:nvSpPr>
        <p:spPr>
          <a:xfrm>
            <a:off x="8172450" y="1714500"/>
            <a:ext cx="1962150" cy="285750"/>
          </a:xfrm>
          <a:prstGeom prst="roundRect">
            <a:avLst>
              <a:gd name="adj" fmla="val 50000"/>
            </a:avLst>
          </a:prstGeom>
          <a:solidFill>
            <a:srgbClr val="18875A">
              <a:alpha val="13333"/>
            </a:srgbClr>
          </a:solidFill>
          <a:ln w="0">
            <a:solidFill>
              <a:srgbClr val="18875A">
                <a:alpha val="13333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088299-CB1A-4571-8DCB-1956B573E0DD}"/>
              </a:ext>
            </a:extLst>
          </p:cNvPr>
          <p:cNvSpPr>
            <a:spLocks noGrp="1"/>
          </p:cNvSpPr>
          <p:nvPr/>
        </p:nvSpPr>
        <p:spPr>
          <a:xfrm>
            <a:off x="8248650" y="17621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4583" lnSpcReduction="20000"/>
          </a:bodyPr>
          <a:lstStyle/>
          <a:p>
            <a:pPr algn="ctr">
              <a:buNone/>
              <a:def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rPr>
              <a:t>FEB → APR 2027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DA9CF8-C984-4E55-94F8-0E68BD7F9D5D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3162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083" lnSpcReduction="10000"/>
          </a:bodyPr>
          <a:lstStyle/>
          <a:p>
            <a:pPr algn="l">
              <a:buNone/>
              <a:defRPr sz="19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Validate and integrate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9CECB66-E13A-4094-9BD7-9FB8E84D1C8C}"/>
              </a:ext>
            </a:extLst>
          </p:cNvPr>
          <p:cNvSpPr>
            <a:spLocks noGrp="1"/>
          </p:cNvSpPr>
          <p:nvPr/>
        </p:nvSpPr>
        <p:spPr>
          <a:xfrm>
            <a:off x="8191500" y="2981325"/>
            <a:ext cx="190500" cy="19050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E6DA32-ABC2-44CB-9B58-5BDB2BA89BB0}"/>
              </a:ext>
            </a:extLst>
          </p:cNvPr>
          <p:cNvSpPr>
            <a:spLocks noGrp="1"/>
          </p:cNvSpPr>
          <p:nvPr/>
        </p:nvSpPr>
        <p:spPr>
          <a:xfrm>
            <a:off x="8191500" y="300037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293725-1036-463C-B316-1AC2CB7354CF}"/>
              </a:ext>
            </a:extLst>
          </p:cNvPr>
          <p:cNvSpPr>
            <a:spLocks noGrp="1"/>
          </p:cNvSpPr>
          <p:nvPr/>
        </p:nvSpPr>
        <p:spPr>
          <a:xfrm>
            <a:off x="8515350" y="29527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7702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Held-out comparison of M models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8B39373-5F09-4E15-8DD8-9A5C5FA82715}"/>
              </a:ext>
            </a:extLst>
          </p:cNvPr>
          <p:cNvSpPr>
            <a:spLocks noGrp="1"/>
          </p:cNvSpPr>
          <p:nvPr/>
        </p:nvSpPr>
        <p:spPr>
          <a:xfrm>
            <a:off x="8191500" y="3571875"/>
            <a:ext cx="190500" cy="19050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0FD67AD-7B7C-4F93-937D-C703EE616D9C}"/>
              </a:ext>
            </a:extLst>
          </p:cNvPr>
          <p:cNvSpPr>
            <a:spLocks noGrp="1"/>
          </p:cNvSpPr>
          <p:nvPr/>
        </p:nvSpPr>
        <p:spPr>
          <a:xfrm>
            <a:off x="8191500" y="359092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B804DC-A361-4FC7-952E-4ABAAED5CB05}"/>
              </a:ext>
            </a:extLst>
          </p:cNvPr>
          <p:cNvSpPr>
            <a:spLocks noGrp="1"/>
          </p:cNvSpPr>
          <p:nvPr/>
        </p:nvSpPr>
        <p:spPr>
          <a:xfrm>
            <a:off x="8515350" y="35433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42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Physical calibration of N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8C96863-D029-47B8-825F-82C6CF02A396}"/>
              </a:ext>
            </a:extLst>
          </p:cNvPr>
          <p:cNvSpPr>
            <a:spLocks noGrp="1"/>
          </p:cNvSpPr>
          <p:nvPr/>
        </p:nvSpPr>
        <p:spPr>
          <a:xfrm>
            <a:off x="8191500" y="4162425"/>
            <a:ext cx="190500" cy="19050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187E22-0510-4157-87B6-C52F47A139F2}"/>
              </a:ext>
            </a:extLst>
          </p:cNvPr>
          <p:cNvSpPr>
            <a:spLocks noGrp="1"/>
          </p:cNvSpPr>
          <p:nvPr/>
        </p:nvSpPr>
        <p:spPr>
          <a:xfrm>
            <a:off x="8191500" y="418147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B6D628A-090A-4ADF-A785-75AF8F26C4A5}"/>
              </a:ext>
            </a:extLst>
          </p:cNvPr>
          <p:cNvSpPr>
            <a:spLocks noGrp="1"/>
          </p:cNvSpPr>
          <p:nvPr/>
        </p:nvSpPr>
        <p:spPr>
          <a:xfrm>
            <a:off x="8515350" y="41338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42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End-to-end decision case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755F3C9-CCDA-49F8-9459-FD597FC946A8}"/>
              </a:ext>
            </a:extLst>
          </p:cNvPr>
          <p:cNvSpPr>
            <a:spLocks noGrp="1"/>
          </p:cNvSpPr>
          <p:nvPr/>
        </p:nvSpPr>
        <p:spPr>
          <a:xfrm>
            <a:off x="8191500" y="4752975"/>
            <a:ext cx="190500" cy="19050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69A272-F3D2-4E19-B776-745B9507CCE9}"/>
              </a:ext>
            </a:extLst>
          </p:cNvPr>
          <p:cNvSpPr>
            <a:spLocks noGrp="1"/>
          </p:cNvSpPr>
          <p:nvPr/>
        </p:nvSpPr>
        <p:spPr>
          <a:xfrm>
            <a:off x="8191500" y="4772025"/>
            <a:ext cx="190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2500" lnSpcReduction="20000"/>
          </a:bodyPr>
          <a:lstStyle/>
          <a:p>
            <a:pPr algn="ctr">
              <a:buNone/>
              <a:defRPr sz="8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9F3096B-EBE3-4093-B1E2-D23D209E84D5}"/>
              </a:ext>
            </a:extLst>
          </p:cNvPr>
          <p:cNvSpPr>
            <a:spLocks noGrp="1"/>
          </p:cNvSpPr>
          <p:nvPr/>
        </p:nvSpPr>
        <p:spPr>
          <a:xfrm>
            <a:off x="8515350" y="47244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042" lnSpcReduction="10000"/>
          </a:bodyPr>
          <a:lstStyle/>
          <a:p>
            <a:pPr algn="l">
              <a:buNone/>
              <a:defRPr sz="12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Final report, code and defence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9B5ECDE-75BC-46CC-AEFE-28B786E0DF9D}"/>
              </a:ext>
            </a:extLst>
          </p:cNvPr>
          <p:cNvSpPr>
            <a:spLocks noGrp="1"/>
          </p:cNvSpPr>
          <p:nvPr/>
        </p:nvSpPr>
        <p:spPr>
          <a:xfrm>
            <a:off x="1485900" y="5924550"/>
            <a:ext cx="8801100" cy="419100"/>
          </a:xfrm>
          <a:prstGeom prst="roundRect">
            <a:avLst>
              <a:gd name="adj" fmla="val 27273"/>
            </a:avLst>
          </a:prstGeom>
          <a:solidFill>
            <a:srgbClr val="FFF4DC"/>
          </a:solidFill>
          <a:ln w="0">
            <a:solidFill>
              <a:srgbClr val="FFF4DC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BE4C27-7037-4008-AAF7-56DFDCD5AE9A}"/>
              </a:ext>
            </a:extLst>
          </p:cNvPr>
          <p:cNvSpPr>
            <a:spLocks noGrp="1"/>
          </p:cNvSpPr>
          <p:nvPr/>
        </p:nvSpPr>
        <p:spPr>
          <a:xfrm>
            <a:off x="1676400" y="6019800"/>
            <a:ext cx="842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9792" lnSpcReduction="20000"/>
          </a:bodyPr>
          <a:lstStyle/>
          <a:p>
            <a:pPr algn="ctr">
              <a:buNone/>
              <a:def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Review 2 endpoint: methodology frozen and pilot measurements demonstrated—not a forced claim of full physical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169267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42C47F8-DA8D-4EB0-8F57-56BE61C39E0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Roadmap · Review 1 to April 2027 submission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E84878-CDD2-4823-8046-DFCE535DE1E8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0E46D-69F8-47D2-8BF6-BEA5DFEFDEFD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3A7C5C-2CC8-411B-95F3-6DEFBE47224F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10210800" cy="571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46CD22-BA11-4C7E-A466-258ADFD63CD3}"/>
              </a:ext>
            </a:extLst>
          </p:cNvPr>
          <p:cNvSpPr>
            <a:spLocks noGrp="1"/>
          </p:cNvSpPr>
          <p:nvPr/>
        </p:nvSpPr>
        <p:spPr>
          <a:xfrm>
            <a:off x="1085850" y="2971800"/>
            <a:ext cx="666750" cy="66675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3D8DFF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43CE58-13CB-4096-B506-2193DA0D78FA}"/>
              </a:ext>
            </a:extLst>
          </p:cNvPr>
          <p:cNvSpPr>
            <a:spLocks noGrp="1"/>
          </p:cNvSpPr>
          <p:nvPr/>
        </p:nvSpPr>
        <p:spPr>
          <a:xfrm>
            <a:off x="1276350" y="3162300"/>
            <a:ext cx="285750" cy="2857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5E97FDD-296D-4448-9871-449EFCD6DB63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3D8DFF">
              <a:alpha val="13333"/>
            </a:srgbClr>
          </a:solidFill>
          <a:ln w="0">
            <a:solidFill>
              <a:srgbClr val="3D8DFF">
                <a:alpha val="13333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1EB74-31CD-4553-A218-9C8ADB132A73}"/>
              </a:ext>
            </a:extLst>
          </p:cNvPr>
          <p:cNvSpPr>
            <a:spLocks noGrp="1"/>
          </p:cNvSpPr>
          <p:nvPr/>
        </p:nvSpPr>
        <p:spPr>
          <a:xfrm>
            <a:off x="685800" y="1533525"/>
            <a:ext cx="1466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4583" lnSpcReduction="20000"/>
          </a:bodyPr>
          <a:lstStyle/>
          <a:p>
            <a:pPr algn="ctr">
              <a:buNone/>
              <a:defRPr sz="975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AUG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7FF6A8-4885-41D8-B538-E6A2EA87796A}"/>
              </a:ext>
            </a:extLst>
          </p:cNvPr>
          <p:cNvSpPr>
            <a:spLocks noGrp="1"/>
          </p:cNvSpPr>
          <p:nvPr/>
        </p:nvSpPr>
        <p:spPr>
          <a:xfrm>
            <a:off x="476250" y="196215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042" lnSpcReduction="10000"/>
          </a:bodyPr>
          <a:lstStyle/>
          <a:p>
            <a:pPr algn="ctr">
              <a:buNone/>
              <a:def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Review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C66C8C-58C2-4509-B8A7-3234B0A09884}"/>
              </a:ext>
            </a:extLst>
          </p:cNvPr>
          <p:cNvSpPr>
            <a:spLocks noGrp="1"/>
          </p:cNvSpPr>
          <p:nvPr/>
        </p:nvSpPr>
        <p:spPr>
          <a:xfrm>
            <a:off x="419100" y="234315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7898" lnSpcReduction="20000"/>
          </a:bodyPr>
          <a:lstStyle/>
          <a:p>
            <a:pPr algn="ctr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Gap + objectives</a:t>
            </a:r>
          </a:p>
          <a:p>
            <a:pPr algn="ctr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Architecture + simulation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C6A4C68-629F-4B31-ADB2-19D64CAAC814}"/>
              </a:ext>
            </a:extLst>
          </p:cNvPr>
          <p:cNvSpPr>
            <a:spLocks noGrp="1"/>
          </p:cNvSpPr>
          <p:nvPr/>
        </p:nvSpPr>
        <p:spPr>
          <a:xfrm>
            <a:off x="3352800" y="2971800"/>
            <a:ext cx="666750" cy="66675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6B4BB0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C1D46-8563-480F-BDB8-93E2E052138A}"/>
              </a:ext>
            </a:extLst>
          </p:cNvPr>
          <p:cNvSpPr>
            <a:spLocks noGrp="1"/>
          </p:cNvSpPr>
          <p:nvPr/>
        </p:nvSpPr>
        <p:spPr>
          <a:xfrm>
            <a:off x="3543300" y="3162300"/>
            <a:ext cx="285750" cy="285750"/>
          </a:xfrm>
          <a:prstGeom prst="ellipse">
            <a:avLst/>
          </a:prstGeom>
          <a:solidFill>
            <a:srgbClr val="6B4BB0"/>
          </a:solidFill>
          <a:ln w="0">
            <a:solidFill>
              <a:srgbClr val="6B4BB0"/>
            </a:solidFill>
            <a:prstDash val="solid"/>
          </a:ln>
        </p:spPr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7753E4-2D74-4315-BF28-F48991EFC15F}"/>
              </a:ext>
            </a:extLst>
          </p:cNvPr>
          <p:cNvSpPr>
            <a:spLocks noGrp="1"/>
          </p:cNvSpPr>
          <p:nvPr/>
        </p:nvSpPr>
        <p:spPr>
          <a:xfrm>
            <a:off x="2876550" y="445770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6B4BB0">
              <a:alpha val="13333"/>
            </a:srgbClr>
          </a:solidFill>
          <a:ln w="0">
            <a:solidFill>
              <a:srgbClr val="6B4BB0">
                <a:alpha val="13333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A2791-0170-4F9B-9B93-69EF65274099}"/>
              </a:ext>
            </a:extLst>
          </p:cNvPr>
          <p:cNvSpPr>
            <a:spLocks noGrp="1"/>
          </p:cNvSpPr>
          <p:nvPr/>
        </p:nvSpPr>
        <p:spPr>
          <a:xfrm>
            <a:off x="2952750" y="4505325"/>
            <a:ext cx="1466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4583" lnSpcReduction="20000"/>
          </a:bodyPr>
          <a:lstStyle/>
          <a:p>
            <a:pPr algn="ctr">
              <a:buNone/>
              <a:defRPr sz="975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6B4BB0"/>
                </a:solidFill>
                <a:latin typeface="Times New Roman"/>
                <a:ea typeface="Times New Roman"/>
                <a:cs typeface="Times New Roman"/>
              </a:rPr>
              <a:t>OCT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DC8115-0DB7-45A7-89B2-F54785F6ABE8}"/>
              </a:ext>
            </a:extLst>
          </p:cNvPr>
          <p:cNvSpPr>
            <a:spLocks noGrp="1"/>
          </p:cNvSpPr>
          <p:nvPr/>
        </p:nvSpPr>
        <p:spPr>
          <a:xfrm>
            <a:off x="2743200" y="493395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042" lnSpcReduction="10000"/>
          </a:bodyPr>
          <a:lstStyle/>
          <a:p>
            <a:pPr algn="ctr">
              <a:buNone/>
              <a:def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Review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E40A0-E7E2-4692-8278-5591F41B3E57}"/>
              </a:ext>
            </a:extLst>
          </p:cNvPr>
          <p:cNvSpPr>
            <a:spLocks noGrp="1"/>
          </p:cNvSpPr>
          <p:nvPr/>
        </p:nvSpPr>
        <p:spPr>
          <a:xfrm>
            <a:off x="2686050" y="531495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736" lnSpcReduction="20000"/>
          </a:bodyPr>
          <a:lstStyle/>
          <a:p>
            <a:pPr algn="ctr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Frozen methodology</a:t>
            </a:r>
          </a:p>
          <a:p>
            <a:pPr algn="ctr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Pilot sensing protocol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E95BD7-FA05-4C66-8C20-13C78E065DFA}"/>
              </a:ext>
            </a:extLst>
          </p:cNvPr>
          <p:cNvSpPr>
            <a:spLocks noGrp="1"/>
          </p:cNvSpPr>
          <p:nvPr/>
        </p:nvSpPr>
        <p:spPr>
          <a:xfrm>
            <a:off x="5619750" y="2971800"/>
            <a:ext cx="666750" cy="66675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C77A0A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1E492F-6522-4244-9632-6479D94EAF02}"/>
              </a:ext>
            </a:extLst>
          </p:cNvPr>
          <p:cNvSpPr>
            <a:spLocks noGrp="1"/>
          </p:cNvSpPr>
          <p:nvPr/>
        </p:nvSpPr>
        <p:spPr>
          <a:xfrm>
            <a:off x="5810250" y="3162300"/>
            <a:ext cx="285750" cy="285750"/>
          </a:xfrm>
          <a:prstGeom prst="ellipse">
            <a:avLst/>
          </a:prstGeom>
          <a:solidFill>
            <a:srgbClr val="C77A0A"/>
          </a:solidFill>
          <a:ln w="0">
            <a:solidFill>
              <a:srgbClr val="C77A0A"/>
            </a:solidFill>
            <a:prstDash val="solid"/>
          </a:ln>
        </p:spPr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BB72B05-21AB-45D2-B8DF-16E93E1E5800}"/>
              </a:ext>
            </a:extLst>
          </p:cNvPr>
          <p:cNvSpPr>
            <a:spLocks noGrp="1"/>
          </p:cNvSpPr>
          <p:nvPr/>
        </p:nvSpPr>
        <p:spPr>
          <a:xfrm>
            <a:off x="5143500" y="148590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C77A0A">
              <a:alpha val="13333"/>
            </a:srgbClr>
          </a:solidFill>
          <a:ln w="0">
            <a:solidFill>
              <a:srgbClr val="C77A0A">
                <a:alpha val="13333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DC6FB1-F28E-433B-A702-8109D67AAF1E}"/>
              </a:ext>
            </a:extLst>
          </p:cNvPr>
          <p:cNvSpPr>
            <a:spLocks noGrp="1"/>
          </p:cNvSpPr>
          <p:nvPr/>
        </p:nvSpPr>
        <p:spPr>
          <a:xfrm>
            <a:off x="5219700" y="1533525"/>
            <a:ext cx="1466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4583" lnSpcReduction="20000"/>
          </a:bodyPr>
          <a:lstStyle/>
          <a:p>
            <a:pPr algn="ctr">
              <a:buNone/>
              <a:defRPr sz="975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C77A0A"/>
                </a:solidFill>
                <a:latin typeface="Times New Roman"/>
                <a:ea typeface="Times New Roman"/>
                <a:cs typeface="Times New Roman"/>
              </a:rPr>
              <a:t>JAN 2027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9EF3D8-939F-4D55-A634-2A292EACB2B5}"/>
              </a:ext>
            </a:extLst>
          </p:cNvPr>
          <p:cNvSpPr>
            <a:spLocks noGrp="1"/>
          </p:cNvSpPr>
          <p:nvPr/>
        </p:nvSpPr>
        <p:spPr>
          <a:xfrm>
            <a:off x="5010150" y="196215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042" lnSpcReduction="10000"/>
          </a:bodyPr>
          <a:lstStyle/>
          <a:p>
            <a:pPr algn="ctr">
              <a:buNone/>
              <a:def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Campaign complete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98E0C8-83AF-4C21-A1A5-E6BD07223BDE}"/>
              </a:ext>
            </a:extLst>
          </p:cNvPr>
          <p:cNvSpPr>
            <a:spLocks noGrp="1"/>
          </p:cNvSpPr>
          <p:nvPr/>
        </p:nvSpPr>
        <p:spPr>
          <a:xfrm>
            <a:off x="4953000" y="234315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437" lnSpcReduction="10000"/>
          </a:bodyPr>
          <a:lstStyle/>
          <a:p>
            <a:pPr algn="ctr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Damage + sorptivity data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18A55E2-A15E-439F-AB6E-AC59196DF703}"/>
              </a:ext>
            </a:extLst>
          </p:cNvPr>
          <p:cNvSpPr>
            <a:spLocks noGrp="1"/>
          </p:cNvSpPr>
          <p:nvPr/>
        </p:nvSpPr>
        <p:spPr>
          <a:xfrm>
            <a:off x="7886700" y="2971800"/>
            <a:ext cx="666750" cy="66675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18875A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4D63FE9-96DD-4250-B08B-4C1B7063E8D6}"/>
              </a:ext>
            </a:extLst>
          </p:cNvPr>
          <p:cNvSpPr>
            <a:spLocks noGrp="1"/>
          </p:cNvSpPr>
          <p:nvPr/>
        </p:nvSpPr>
        <p:spPr>
          <a:xfrm>
            <a:off x="8077200" y="3162300"/>
            <a:ext cx="285750" cy="285750"/>
          </a:xfrm>
          <a:prstGeom prst="ellipse">
            <a:avLst/>
          </a:prstGeom>
          <a:solidFill>
            <a:srgbClr val="18875A"/>
          </a:solidFill>
          <a:ln w="0">
            <a:solidFill>
              <a:srgbClr val="18875A"/>
            </a:solidFill>
            <a:prstDash val="solid"/>
          </a:ln>
        </p:spPr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43655F-81A3-4802-8032-983FE541053D}"/>
              </a:ext>
            </a:extLst>
          </p:cNvPr>
          <p:cNvSpPr>
            <a:spLocks noGrp="1"/>
          </p:cNvSpPr>
          <p:nvPr/>
        </p:nvSpPr>
        <p:spPr>
          <a:xfrm>
            <a:off x="7410450" y="445770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18875A">
              <a:alpha val="13333"/>
            </a:srgbClr>
          </a:solidFill>
          <a:ln w="0">
            <a:solidFill>
              <a:srgbClr val="18875A">
                <a:alpha val="13333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7368F3-A231-4AC9-8A8F-B0591230206F}"/>
              </a:ext>
            </a:extLst>
          </p:cNvPr>
          <p:cNvSpPr>
            <a:spLocks noGrp="1"/>
          </p:cNvSpPr>
          <p:nvPr/>
        </p:nvSpPr>
        <p:spPr>
          <a:xfrm>
            <a:off x="7486650" y="4505325"/>
            <a:ext cx="1466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4583" lnSpcReduction="20000"/>
          </a:bodyPr>
          <a:lstStyle/>
          <a:p>
            <a:pPr algn="ctr">
              <a:buNone/>
              <a:defRPr sz="975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8875A"/>
                </a:solidFill>
                <a:latin typeface="Times New Roman"/>
                <a:ea typeface="Times New Roman"/>
                <a:cs typeface="Times New Roman"/>
              </a:rPr>
              <a:t>MAR 2027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A8CC94-7E94-47CC-A5D3-28545467F717}"/>
              </a:ext>
            </a:extLst>
          </p:cNvPr>
          <p:cNvSpPr>
            <a:spLocks noGrp="1"/>
          </p:cNvSpPr>
          <p:nvPr/>
        </p:nvSpPr>
        <p:spPr>
          <a:xfrm>
            <a:off x="7277100" y="493395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4445" lnSpcReduction="20000"/>
          </a:bodyPr>
          <a:lstStyle/>
          <a:p>
            <a:pPr algn="ctr">
              <a:buNone/>
              <a:def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Integrated validation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5344D6-9A32-4C7F-BFA2-1B8ADA2ED54A}"/>
              </a:ext>
            </a:extLst>
          </p:cNvPr>
          <p:cNvSpPr>
            <a:spLocks noGrp="1"/>
          </p:cNvSpPr>
          <p:nvPr/>
        </p:nvSpPr>
        <p:spPr>
          <a:xfrm>
            <a:off x="7219950" y="531495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386" lnSpcReduction="20000"/>
          </a:bodyPr>
          <a:lstStyle/>
          <a:p>
            <a:pPr algn="ctr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Held-out M / N evaluation</a:t>
            </a:r>
          </a:p>
          <a:p>
            <a:pPr algn="ctr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Decision checks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BED258-8AFC-497B-9FBB-388D44C84FD5}"/>
              </a:ext>
            </a:extLst>
          </p:cNvPr>
          <p:cNvSpPr>
            <a:spLocks noGrp="1"/>
          </p:cNvSpPr>
          <p:nvPr/>
        </p:nvSpPr>
        <p:spPr>
          <a:xfrm>
            <a:off x="10153650" y="2971800"/>
            <a:ext cx="666750" cy="66675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B1220"/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0989C25-2B8C-4B55-95A5-E5C0F49A5B3A}"/>
              </a:ext>
            </a:extLst>
          </p:cNvPr>
          <p:cNvSpPr>
            <a:spLocks noGrp="1"/>
          </p:cNvSpPr>
          <p:nvPr/>
        </p:nvSpPr>
        <p:spPr>
          <a:xfrm>
            <a:off x="10344150" y="3162300"/>
            <a:ext cx="285750" cy="285750"/>
          </a:xfrm>
          <a:prstGeom prst="ellipse">
            <a:avLst/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7C62ADF-6312-4B0D-94DB-A97B670748BA}"/>
              </a:ext>
            </a:extLst>
          </p:cNvPr>
          <p:cNvSpPr>
            <a:spLocks noGrp="1"/>
          </p:cNvSpPr>
          <p:nvPr/>
        </p:nvSpPr>
        <p:spPr>
          <a:xfrm>
            <a:off x="9677400" y="148590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0B1220">
              <a:alpha val="13333"/>
            </a:srgbClr>
          </a:solidFill>
          <a:ln w="0">
            <a:solidFill>
              <a:srgbClr val="0B1220">
                <a:alpha val="13333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3C7B7D-A8B9-4FD8-B4B0-E3055F23C651}"/>
              </a:ext>
            </a:extLst>
          </p:cNvPr>
          <p:cNvSpPr>
            <a:spLocks noGrp="1"/>
          </p:cNvSpPr>
          <p:nvPr/>
        </p:nvSpPr>
        <p:spPr>
          <a:xfrm>
            <a:off x="9753600" y="1533525"/>
            <a:ext cx="1466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4583" lnSpcReduction="20000"/>
          </a:bodyPr>
          <a:lstStyle/>
          <a:p>
            <a:pPr algn="ctr">
              <a:buNone/>
              <a:defRPr sz="9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APR 2027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F82ABD-A1C3-4ECF-96DA-853E74A62009}"/>
              </a:ext>
            </a:extLst>
          </p:cNvPr>
          <p:cNvSpPr>
            <a:spLocks noGrp="1"/>
          </p:cNvSpPr>
          <p:nvPr/>
        </p:nvSpPr>
        <p:spPr>
          <a:xfrm>
            <a:off x="9544050" y="1962150"/>
            <a:ext cx="188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042" lnSpcReduction="10000"/>
          </a:bodyPr>
          <a:lstStyle/>
          <a:p>
            <a:pPr algn="ctr">
              <a:buNone/>
              <a:defRPr sz="15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Submission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0ECACB-C8D8-4A6E-9C5C-4384947DC584}"/>
              </a:ext>
            </a:extLst>
          </p:cNvPr>
          <p:cNvSpPr>
            <a:spLocks noGrp="1"/>
          </p:cNvSpPr>
          <p:nvPr/>
        </p:nvSpPr>
        <p:spPr>
          <a:xfrm>
            <a:off x="9486900" y="234315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437" lnSpcReduction="10000"/>
          </a:bodyPr>
          <a:lstStyle/>
          <a:p>
            <a:pPr algn="ctr">
              <a:buNone/>
              <a:defRPr sz="12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Report + code + data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D26DE6-3255-4A81-82ED-CB67AB173714}"/>
              </a:ext>
            </a:extLst>
          </p:cNvPr>
          <p:cNvSpPr>
            <a:spLocks noGrp="1"/>
          </p:cNvSpPr>
          <p:nvPr/>
        </p:nvSpPr>
        <p:spPr>
          <a:xfrm>
            <a:off x="1238250" y="61531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5417" lnSpcReduction="20000"/>
          </a:bodyPr>
          <a:lstStyle/>
          <a:p>
            <a:pPr algn="ctr">
              <a:buNone/>
              <a:defRPr sz="1275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The critical path is experimental—not slideware: freeze protocol → collect paired measurements → hold out validation → integrate decisions.</a:t>
            </a:r>
          </a:p>
        </p:txBody>
      </p:sp>
    </p:spTree>
    <p:extLst>
      <p:ext uri="{BB962C8B-B14F-4D97-AF65-F5344CB8AC3E}">
        <p14:creationId xmlns:p14="http://schemas.microsoft.com/office/powerpoint/2010/main" val="582524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9B1DC5C-48C3-4265-94EC-EE75D2AE825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1135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References · APA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11543-8B71-49A6-855C-6AC2997E8FC4}"/>
              </a:ext>
            </a:extLst>
          </p:cNvPr>
          <p:cNvSpPr>
            <a:spLocks noGrp="1"/>
          </p:cNvSpPr>
          <p:nvPr/>
        </p:nvSpPr>
        <p:spPr>
          <a:xfrm>
            <a:off x="419100" y="1028700"/>
            <a:ext cx="11353800" cy="19050"/>
          </a:xfrm>
          <a:prstGeom prst="rect">
            <a:avLst/>
          </a:prstGeom>
          <a:solidFill>
            <a:srgbClr val="B8C1CC"/>
          </a:solidFill>
          <a:ln w="0">
            <a:solidFill>
              <a:srgbClr val="B8C1C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C722F-60E4-4A3F-A153-8411542158C3}"/>
              </a:ext>
            </a:extLst>
          </p:cNvPr>
          <p:cNvSpPr>
            <a:spLocks noGrp="1"/>
          </p:cNvSpPr>
          <p:nvPr/>
        </p:nvSpPr>
        <p:spPr>
          <a:xfrm>
            <a:off x="11277600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r">
              <a:buNone/>
              <a:def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26173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589382-5090-4040-97E5-7E832B5B2FCD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5467350" cy="4705350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5D80A4-518C-4349-B0AC-61F28D5EDEF2}"/>
              </a:ext>
            </a:extLst>
          </p:cNvPr>
          <p:cNvSpPr>
            <a:spLocks noGrp="1"/>
          </p:cNvSpPr>
          <p:nvPr/>
        </p:nvSpPr>
        <p:spPr>
          <a:xfrm>
            <a:off x="6076950" y="1428750"/>
            <a:ext cx="5695950" cy="4705350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DF8FB3-0B44-417D-B260-E2A088D59089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86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070" lnSpcReduction="20000"/>
          </a:bodyPr>
          <a:lstStyle/>
          <a:p>
            <a:pPr algn="l">
              <a:buNone/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Pirrò, M., Pereira, S., Gentile, C., Magalhães, F., &amp; Cunha, Á. (2025). Damage detection under environmental and operational variability using the cointegration technique. Engineering Structures, 328, 119700. https://doi.org/10.1016/j.engstruct.2025.119700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9D2593-C891-48C6-9C06-25F4BC7D41BF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5086350" cy="9525"/>
          </a:xfrm>
          <a:prstGeom prst="rect">
            <a:avLst/>
          </a:prstGeom>
          <a:solidFill>
            <a:srgbClr val="E9EEF4"/>
          </a:solidFill>
          <a:ln w="0">
            <a:solidFill>
              <a:srgbClr val="E9EEF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CF63F2-941E-4422-AE59-1C6A3BFF4961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5086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458" lnSpcReduction="10000"/>
          </a:bodyPr>
          <a:lstStyle/>
          <a:p>
            <a:pPr algn="l">
              <a:buNone/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Giglioni, V., Venanzi, I., Poggioni, V., Milani, A., &amp; Ubertini, F. (2023). Autoencoders for unsupervised real-time bridge health assessment. Computer-Aided Civil and Infrastructure Engineering, 38, 959–974. https://doi.org/10.1111/mice.12943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C97B21-31C9-4B5E-8434-4F0AB0B16158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5086350" cy="9525"/>
          </a:xfrm>
          <a:prstGeom prst="rect">
            <a:avLst/>
          </a:prstGeom>
          <a:solidFill>
            <a:srgbClr val="E9EEF4"/>
          </a:solidFill>
          <a:ln w="0">
            <a:solidFill>
              <a:srgbClr val="E9EEF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4D5D64-5990-4129-895C-8A54A416922D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086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639" lnSpcReduction="10000"/>
          </a:bodyPr>
          <a:lstStyle/>
          <a:p>
            <a:pPr algn="l">
              <a:buNone/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Torzoni, M., Rosafalco, L., Manzoni, A., Mariani, S., &amp; Corigliano, A. (2022). SHM under varying environmental conditions: An approach based on model order reduction and deep learning. Computers &amp; Structures, 266, 106790. https://doi.org/10.1016/j.compstruc.2022.106790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39583B-B96B-49C0-9EFE-5475A8534087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5086350" cy="9525"/>
          </a:xfrm>
          <a:prstGeom prst="rect">
            <a:avLst/>
          </a:prstGeom>
          <a:solidFill>
            <a:srgbClr val="E9EEF4"/>
          </a:solidFill>
          <a:ln w="0">
            <a:solidFill>
              <a:srgbClr val="E9EEF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7145A9-8EBF-4C8E-ADE7-C10DE697ED91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5086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2983" lnSpcReduction="10000"/>
          </a:bodyPr>
          <a:lstStyle/>
          <a:p>
            <a:pPr algn="l">
              <a:buNone/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Torzoni, M., Manzoni, A., &amp; Mariani, S. (2023). A multi-fidelity surrogate model for structural health monitoring exploiting model order reduction and artificial neural networks. Mechanical Systems and Signal Processing, 197, 110376. https://doi.org/10.1016/j.ymssp.2023.110376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162214-60CD-49C4-A4A9-01831C9F0463}"/>
              </a:ext>
            </a:extLst>
          </p:cNvPr>
          <p:cNvSpPr>
            <a:spLocks noGrp="1"/>
          </p:cNvSpPr>
          <p:nvPr/>
        </p:nvSpPr>
        <p:spPr>
          <a:xfrm>
            <a:off x="6267450" y="1600200"/>
            <a:ext cx="5314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458" lnSpcReduction="10000"/>
          </a:bodyPr>
          <a:lstStyle/>
          <a:p>
            <a:pPr algn="l">
              <a:buNone/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Torzoni, M., Manzoni, A., &amp; Mariani, S. (2022). Structural health monitoring of civil structures: A diagnostic framework powered by deep metric learning. Computers &amp; Structures, 271, 106858. https://doi.org/10.1016/j.compstruc.2022.106858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7F33FD-138C-49DE-A015-1450E8C8DE7F}"/>
              </a:ext>
            </a:extLst>
          </p:cNvPr>
          <p:cNvSpPr>
            <a:spLocks noGrp="1"/>
          </p:cNvSpPr>
          <p:nvPr/>
        </p:nvSpPr>
        <p:spPr>
          <a:xfrm>
            <a:off x="6267450" y="2609850"/>
            <a:ext cx="5314950" cy="9525"/>
          </a:xfrm>
          <a:prstGeom prst="rect">
            <a:avLst/>
          </a:prstGeom>
          <a:solidFill>
            <a:srgbClr val="E9EEF4"/>
          </a:solidFill>
          <a:ln w="0">
            <a:solidFill>
              <a:srgbClr val="E9EEF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AF0BB9-D504-49E2-9A5B-373C2F07ED0B}"/>
              </a:ext>
            </a:extLst>
          </p:cNvPr>
          <p:cNvSpPr>
            <a:spLocks noGrp="1"/>
          </p:cNvSpPr>
          <p:nvPr/>
        </p:nvSpPr>
        <p:spPr>
          <a:xfrm>
            <a:off x="6267450" y="2705100"/>
            <a:ext cx="5314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983" lnSpcReduction="10000"/>
          </a:bodyPr>
          <a:lstStyle/>
          <a:p>
            <a:pPr algn="l">
              <a:buNone/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Kamariotis, A., Chatzi, E., &amp; Straub, D. (2022). Value of information from vibration-based structural health monitoring extracted via Bayesian model updating. Mechanical Systems and Signal Processing, 166, 108465. https://doi.org/10.1016/j.ymssp.2021.108465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DD8A3A-6F1D-4EE9-8102-BBB28FE06F55}"/>
              </a:ext>
            </a:extLst>
          </p:cNvPr>
          <p:cNvSpPr>
            <a:spLocks noGrp="1"/>
          </p:cNvSpPr>
          <p:nvPr/>
        </p:nvSpPr>
        <p:spPr>
          <a:xfrm>
            <a:off x="6267450" y="3714750"/>
            <a:ext cx="5314950" cy="9525"/>
          </a:xfrm>
          <a:prstGeom prst="rect">
            <a:avLst/>
          </a:prstGeom>
          <a:solidFill>
            <a:srgbClr val="E9EEF4"/>
          </a:solidFill>
          <a:ln w="0">
            <a:solidFill>
              <a:srgbClr val="E9EEF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775A54-EE31-4F1A-A3CF-48E12287EE79}"/>
              </a:ext>
            </a:extLst>
          </p:cNvPr>
          <p:cNvSpPr>
            <a:spLocks noGrp="1"/>
          </p:cNvSpPr>
          <p:nvPr/>
        </p:nvSpPr>
        <p:spPr>
          <a:xfrm>
            <a:off x="6267450" y="3810000"/>
            <a:ext cx="5314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6667" lnSpcReduction="20000"/>
          </a:bodyPr>
          <a:lstStyle/>
          <a:p>
            <a:pPr algn="l">
              <a:buNone/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Arcieri, G., Hoelzl, C., Schwery, O., Straub, D., Papakonstantinou, K. G., &amp; Chatzi, E. (2023). Bridging POMDPs and Bayesian decision making for robust maintenance planning under model uncertainty: An application to railway systems. Reliability Engineering &amp; System Safety, 239, 109496. https://doi.org/10.1016/j.ress.2023.109496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9E0B74-E494-41AD-B015-DBFC8DD1DF67}"/>
              </a:ext>
            </a:extLst>
          </p:cNvPr>
          <p:cNvSpPr>
            <a:spLocks noGrp="1"/>
          </p:cNvSpPr>
          <p:nvPr/>
        </p:nvSpPr>
        <p:spPr>
          <a:xfrm>
            <a:off x="6267450" y="4819650"/>
            <a:ext cx="5314950" cy="9525"/>
          </a:xfrm>
          <a:prstGeom prst="rect">
            <a:avLst/>
          </a:prstGeom>
          <a:solidFill>
            <a:srgbClr val="E9EEF4"/>
          </a:solidFill>
          <a:ln w="0">
            <a:solidFill>
              <a:srgbClr val="E9EEF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97EBF-0D68-47F8-AF16-D55ABE892C30}"/>
              </a:ext>
            </a:extLst>
          </p:cNvPr>
          <p:cNvSpPr>
            <a:spLocks noGrp="1"/>
          </p:cNvSpPr>
          <p:nvPr/>
        </p:nvSpPr>
        <p:spPr>
          <a:xfrm>
            <a:off x="6267450" y="4914900"/>
            <a:ext cx="5314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458" lnSpcReduction="10000"/>
          </a:bodyPr>
          <a:lstStyle/>
          <a:p>
            <a:pPr algn="l">
              <a:buNone/>
              <a:defRPr sz="12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Mengel, L., Krauss, H.-W., &amp; Lowke, D. (2022). Water transport through cracked concrete structures—Effect of mixture proportion on separating crack geometry and permeability. Materials, 15, 5807. https://doi.org/10.3390/ma15175807</a:t>
            </a:r>
          </a:p>
        </p:txBody>
      </p:sp>
    </p:spTree>
    <p:extLst>
      <p:ext uri="{BB962C8B-B14F-4D97-AF65-F5344CB8AC3E}">
        <p14:creationId xmlns:p14="http://schemas.microsoft.com/office/powerpoint/2010/main" val="5531632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2554</Words>
  <Application>Microsoft Macintosh PowerPoint</Application>
  <DocSecurity>0</DocSecurity>
  <PresentationFormat>Widescreen</PresentationFormat>
  <Paragraphs>369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Aditya</cp:lastModifiedBy>
  <cp:revision>1</cp:revision>
  <dcterms:created xsi:type="dcterms:W3CDTF">2026-08-27T00:02:26Z</dcterms:created>
  <dcterms:modified xsi:type="dcterms:W3CDTF">2026-08-27T00:10:42Z</dcterms:modified>
</cp:coreProperties>
</file>